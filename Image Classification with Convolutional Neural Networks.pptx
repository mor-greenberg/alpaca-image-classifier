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A9C05-2E1B-4557-9609-ED246045DA18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D4A8-898D-4244-A0C5-DB529B0B6CB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982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1D4A8-898D-4244-A0C5-DB529B0B6CBD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43980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1D4A8-898D-4244-A0C5-DB529B0B6CBD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4775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1D4A8-898D-4244-A0C5-DB529B0B6CBD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0879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18BB-5369-C8A1-3632-0AA0D33CB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C5B28-D9F3-61ED-7DC8-8F10CF265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C942B-D68F-DF5F-6DCE-70E96AD9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4CAAB-4AF4-178D-1E13-5B1ADD51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C612D-CA04-267E-A60D-F74B7C5C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579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E9612-A449-F9FA-2EB3-C127200E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FCD1F-0102-DD30-9C8C-08D19BBE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50579-8EB2-6DA4-3EBD-DF2D9913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34064-07A7-B0F9-272C-8353D181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C451B-65E2-CD00-C31D-41918303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093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70D0-91E3-F398-F086-9DFCEF7A7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A0246-5608-0427-AED1-E0BE827E0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2C84E-B172-D334-B686-392223C5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71625-D283-66AB-F63E-67CEAAA6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6AD1D-F68E-3E98-F4F7-DCACBE1B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0923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DF2C-C001-1333-98E7-6B720D7F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083FF-BCC2-DC6A-D442-BCC2995B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8695F-F6F3-A4D6-BCEE-5372E1DFC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F38B2-7186-EABA-C0DA-97C92308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583D1-C2B6-B8F4-FE21-FFAAF6AC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952C6-21EF-7B88-9DE8-60F4791F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648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20DE-9E32-EA00-737C-700CCEB5F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50B57-C2CE-4121-1E6D-B6CD20AD9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B6DEA-11B1-2C18-790F-0218B589C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0A7CCD-9414-343D-17E8-3081B89B50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9F72B7-2BAF-1E53-E9E3-A2C7029C6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6CEB1D-3163-7F40-14FE-785B9C21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8748C9-0AA3-7B0D-BCB9-FE0C3427A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85E05-5814-203C-71B8-B8F158B4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98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4E7D-91A7-A2F7-23D9-2F5C5C45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94400-C1B7-E9CA-80BD-18038B57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6AA48-C1E2-D2DD-8121-BC56209BF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60C66-8CD0-404D-13D0-161F1E3E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341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4EDAC-08DE-412E-E87A-715442CE7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5BCA3C-021F-421C-4712-E335895C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6E72D-66AE-6FBC-C104-34FADDD4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822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889E-07D4-5B40-1159-1B3179F1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B8A84-D40A-5E5A-1F70-4F0C0E712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BC047-473D-6CD9-6422-56A2A093D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38568-46F2-F00E-E715-9D1A6E06D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FC0E0-5126-A10E-010F-C55C75777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BE003-9F93-5FEA-2276-9E60C6BD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907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3BCE-BCA9-BDA6-0488-9B55DDA9E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27B21E-6E03-7B7E-57BE-364EA257F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B1A74-A5B8-148A-5958-40BBBF700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A43DB-A089-55A3-2FD3-94689E5C7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40099-5504-307C-C9B1-1C7DB5DD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E2E9A-A8D1-74D7-28D3-26DBAE943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3386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12476-F2E1-2543-E1D9-6C7B215F4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72A95-FCCA-1FC0-DFCD-C0374994E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3DE39-5364-09F9-3F79-FF01C5A6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D3A7E-40FC-7EF4-0A5E-DE6E8ADD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9F45D-BC9E-EEBC-7FA1-503A7F80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935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24393-43F4-355A-15EE-2895AD840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07E38-4E73-4C2A-BBE0-CFE171878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3BB6F-347F-352A-4F85-B231C40BE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159A9-860B-C4D0-ACA6-388B411B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86F3B-2832-CAA1-F8D4-BE5EF38A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5750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806F45-CE34-B01D-C05F-35A12C02D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D5110-1A18-ACDD-BA13-0AF190206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0C166-F436-B5D8-7CAD-1D3F7C8F7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BD361-8C1D-4BD0-A5A9-21866D08D95D}" type="datetimeFigureOut">
              <a:rPr lang="LID4096" smtClean="0"/>
              <a:t>02/01/2026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7D819-E28A-A551-C19F-071FE8BBD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F7023-D32C-19AE-5247-92B01FCDA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6AC12-AF8C-4E62-A0EB-0BDD602926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787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ithub.com/Mor-Greenberg/alpaca-image-classifie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BA5C-DF46-9389-D7CF-3D676B5DA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Image Classification with Convolutional Neural Networks</a:t>
            </a:r>
            <a:br>
              <a:rPr lang="en-US" dirty="0"/>
            </a:b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A70A9-ADB9-D4E5-32DF-D156F54A7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Project - Introduction to Deep Learning</a:t>
            </a:r>
          </a:p>
          <a:p>
            <a:endParaRPr lang="LID4096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6FDEC4-E924-C944-F5D7-DD7B0D91B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1914" y="4331065"/>
            <a:ext cx="46823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Student: Mor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Greenberg</a:t>
            </a:r>
            <a:endParaRPr kumimoji="0" lang="LID4096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Alpaca vs. Not Alpaca</a:t>
            </a:r>
            <a:endParaRPr kumimoji="0" lang="he-IL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LID4096" sz="2400" dirty="0">
                <a:latin typeface="Arial" panose="020B0604020202020204" pitchFamily="34" charset="0"/>
                <a:hlinkClick r:id="rId2" action="ppaction://hlinkfile"/>
              </a:rPr>
              <a:t>GitHub</a:t>
            </a:r>
            <a:endParaRPr kumimoji="0" lang="LID4096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936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6B3C-9F54-1614-7F6D-6BCD32DD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Definition &amp; Dataset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B6FCE2-E340-A765-85A8-403ECE829F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877637"/>
            <a:ext cx="1051559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Binary image classification</a:t>
            </a:r>
            <a:b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(Alpaca vs. Not Alpaca)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size: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327 images total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Training: 262 images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Validation: 65 images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preprocessing: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Resize to 224×224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Normalization using ImageNet statistics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dataset size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risk of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96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5829-3F80-5488-4FF7-6D7CF722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cs typeface="+mn-cs"/>
              </a:rPr>
              <a:t>Part 1-</a:t>
            </a:r>
            <a:br>
              <a:rPr lang="en-US" b="1" dirty="0">
                <a:cs typeface="+mn-cs"/>
              </a:rPr>
            </a:br>
            <a:r>
              <a:rPr lang="en-US" b="1" dirty="0">
                <a:cs typeface="+mn-cs"/>
              </a:rPr>
              <a:t>Experimental Setup </a:t>
            </a:r>
            <a:r>
              <a:rPr lang="he-IL" b="1" dirty="0">
                <a:cs typeface="+mn-cs"/>
              </a:rPr>
              <a:t>-</a:t>
            </a:r>
            <a:r>
              <a:rPr lang="en-US" b="1" dirty="0">
                <a:cs typeface="+mn-cs"/>
              </a:rPr>
              <a:t> Training from Scratch</a:t>
            </a:r>
            <a:endParaRPr lang="LID4096" dirty="0"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6DECD8-2097-84A6-62D2-6CEDE23C56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6"/>
            <a:ext cx="1038497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PyTorch (no fastai)</a:t>
            </a:r>
            <a:endParaRPr kumimoji="0" lang="he-IL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 approach:</a:t>
            </a:r>
            <a:b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CNNs from scratch on the target dataset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vs. validation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vs. validation loss curves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Controlled experiments: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dataset split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number of epochs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 comparison between models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60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AF03-D264-54C6-2BB3-2C51981A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Baseline Architecture - Shallow CNN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AC0D50-D0D7-6BDE-A5E3-0362344004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5663"/>
            <a:ext cx="99822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convolutional layers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 activations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 pooling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connected classifier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motivation: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model to establish a baseline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capacity to reduce overfitting risk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rate: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1e-3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Epochs: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lang="en-US" altLang="LID4096" sz="1800" dirty="0">
                <a:latin typeface="Arial" panose="020B0604020202020204" pitchFamily="34" charset="0"/>
              </a:rPr>
              <a:t> 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minimal model capacity required for the 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B5E21-DBFB-E5C3-1E85-D6A15FADE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090" y="2000050"/>
            <a:ext cx="6287377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39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27BA-DDA7-8025-AFD5-C1AF6AFC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/>
              <a:t>Baseline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en-US" b="1" dirty="0"/>
              <a:t> - Shallow CNN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015D1-E325-9FD2-BFE7-6E2731746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5" y="1096982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Training behavior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Training loss decreased steadily across epochs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Training accuracy improved consistently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Validation performance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Validation accuracy showed limited improvement and high variance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Validation loss increased gradually after early epochs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Growing gap between training and validation loss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Validation accuracy improved only marginally at later epochs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shallow CNN shows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early signs of overfitting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Limited generalization suggests the need</a:t>
            </a:r>
            <a:endParaRPr lang="he-IL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for stronger regularization or increased model capacity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348A63-A044-7737-D455-A52D27C1C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103" y="958623"/>
            <a:ext cx="3685885" cy="2328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133C32-FD46-E516-B162-533B59685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987" y="3938852"/>
            <a:ext cx="4127727" cy="264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6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AD29-8C6C-25A7-68D6-6CC259FC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  <a:r>
              <a:rPr lang="pt-BR" b="1" dirty="0"/>
              <a:t> Comparison </a:t>
            </a:r>
            <a:r>
              <a:rPr lang="en-US" b="1" dirty="0"/>
              <a:t>- </a:t>
            </a:r>
            <a:r>
              <a:rPr lang="pt-BR" b="1" dirty="0"/>
              <a:t>Adam vs. SGD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909C0-13A6-900C-2607-592B7C9FD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Optimizers evaluated: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Adam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SGD with momentum (0.9)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Adam: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Fast and stable convergence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Smooth training curves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Higher and more consistent validation accuracy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SGD with momentum: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Slower and less stable convergence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Highly sensitive to learning rate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Large fluctuations in validation performance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Adam was more suitable for this small dataset 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limited training regime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BD5F5-E8CF-D291-68B7-AE0A3C2F45A8}"/>
              </a:ext>
            </a:extLst>
          </p:cNvPr>
          <p:cNvSpPr txBox="1"/>
          <p:nvPr/>
        </p:nvSpPr>
        <p:spPr>
          <a:xfrm>
            <a:off x="7326086" y="5017634"/>
            <a:ext cx="475705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SGD exhibits unstable validation performance across epochs.</a:t>
            </a:r>
            <a:endParaRPr lang="en-US" dirty="0"/>
          </a:p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410F1-3685-1D23-3F03-23BC6B3AF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410" y="1493161"/>
            <a:ext cx="5252464" cy="327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3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C766-BD0E-541F-FDC9-AAB9A046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cs typeface="+mn-cs"/>
              </a:rPr>
              <a:t>Architecture Comparison </a:t>
            </a:r>
            <a:r>
              <a:rPr lang="he-IL" b="1" dirty="0">
                <a:cs typeface="+mn-cs"/>
              </a:rPr>
              <a:t>–</a:t>
            </a:r>
            <a:br>
              <a:rPr lang="he-IL" b="1" dirty="0">
                <a:cs typeface="+mn-cs"/>
              </a:rPr>
            </a:br>
            <a:r>
              <a:rPr lang="en-US" b="1" dirty="0">
                <a:cs typeface="+mn-cs"/>
              </a:rPr>
              <a:t>Shallow vs. Deep CNN</a:t>
            </a:r>
            <a:endParaRPr lang="LID4096" dirty="0"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369E6-CF0C-878D-0234-1298FD4CE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/>
              <a:t>Shallow CNN:</a:t>
            </a:r>
            <a:endParaRPr lang="en-US" sz="1800" dirty="0"/>
          </a:p>
          <a:p>
            <a:pPr lvl="1"/>
            <a:r>
              <a:rPr lang="en-US" sz="1800" dirty="0"/>
              <a:t>Lower representational capacity</a:t>
            </a:r>
          </a:p>
          <a:p>
            <a:pPr lvl="1"/>
            <a:r>
              <a:rPr lang="en-US" sz="1800" dirty="0"/>
              <a:t>High training accuracy</a:t>
            </a:r>
          </a:p>
          <a:p>
            <a:pPr lvl="1"/>
            <a:r>
              <a:rPr lang="en-US" sz="1800" dirty="0"/>
              <a:t>Clear overfitting behavior</a:t>
            </a:r>
          </a:p>
          <a:p>
            <a:r>
              <a:rPr lang="en-US" sz="1800" b="1" dirty="0"/>
              <a:t>Deep CNN:</a:t>
            </a:r>
            <a:endParaRPr lang="en-US" sz="1800" dirty="0"/>
          </a:p>
          <a:p>
            <a:pPr lvl="1"/>
            <a:r>
              <a:rPr lang="en-US" sz="1800" dirty="0"/>
              <a:t>Increased depth and capacity</a:t>
            </a:r>
          </a:p>
          <a:p>
            <a:pPr lvl="1"/>
            <a:r>
              <a:rPr lang="en-US" sz="1800" dirty="0"/>
              <a:t>Slightly improved validation accuracy</a:t>
            </a:r>
          </a:p>
          <a:p>
            <a:pPr lvl="1"/>
            <a:r>
              <a:rPr lang="en-US" sz="1800" dirty="0"/>
              <a:t>Reduced train–validation gap</a:t>
            </a:r>
          </a:p>
          <a:p>
            <a:r>
              <a:rPr lang="en-US" sz="1800" b="1" dirty="0"/>
              <a:t>Key observation:</a:t>
            </a:r>
            <a:br>
              <a:rPr lang="en-US" sz="1800" dirty="0"/>
            </a:br>
            <a:r>
              <a:rPr lang="en-US" sz="1800" dirty="0"/>
              <a:t>Deeper architecture improved generalization without significantly increasing overfitting</a:t>
            </a:r>
          </a:p>
          <a:p>
            <a:r>
              <a:rPr lang="en-US" sz="1800" b="1" dirty="0"/>
              <a:t>Conclusion:</a:t>
            </a:r>
            <a:br>
              <a:rPr lang="en-US" sz="1800" dirty="0"/>
            </a:br>
            <a:r>
              <a:rPr lang="en-US" sz="1800" dirty="0"/>
              <a:t>Increasing model depth led to more meaningful feature representations</a:t>
            </a:r>
          </a:p>
          <a:p>
            <a:pPr marL="0" indent="0">
              <a:buNone/>
            </a:pPr>
            <a:endParaRPr lang="he-IL" sz="1800" dirty="0"/>
          </a:p>
          <a:p>
            <a:pPr marL="0" indent="0">
              <a:buNone/>
            </a:pPr>
            <a:r>
              <a:rPr lang="en-US" sz="1800" b="1" i="1" dirty="0"/>
              <a:t>Depth helped the model capture more complex visual patterns.</a:t>
            </a:r>
            <a:endParaRPr lang="LID4096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AB1EB4-F55E-8CAA-8FBE-BC8E84CBE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531" y="2400837"/>
            <a:ext cx="3445775" cy="217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4C7CD6-E92A-6237-8395-CF03DBBB8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531" y="223683"/>
            <a:ext cx="3445775" cy="217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68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9218-2327-9777-1693-5A4879C81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Batch Normalization - Analysis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5B39-D83A-DF4B-45DE-6E2DD13F3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1800" dirty="0" err="1"/>
              <a:t>BatchNorm</a:t>
            </a:r>
            <a:r>
              <a:rPr lang="en-US" sz="1800" dirty="0"/>
              <a:t> added to the Deep CNN and trained with Adam</a:t>
            </a:r>
          </a:p>
          <a:p>
            <a:r>
              <a:rPr lang="en-US" sz="1800" b="1" dirty="0"/>
              <a:t>LR = 1e-3:</a:t>
            </a:r>
            <a:endParaRPr lang="en-US" sz="1800" dirty="0"/>
          </a:p>
          <a:p>
            <a:pPr lvl="1"/>
            <a:r>
              <a:rPr lang="en-US" sz="1800" dirty="0"/>
              <a:t>Highly unstable training in early epochs</a:t>
            </a:r>
          </a:p>
          <a:p>
            <a:pPr lvl="1"/>
            <a:r>
              <a:rPr lang="en-US" sz="1800" dirty="0"/>
              <a:t>Very high initial training loss</a:t>
            </a:r>
          </a:p>
          <a:p>
            <a:pPr lvl="1"/>
            <a:r>
              <a:rPr lang="en-US" sz="1800" b="1" dirty="0"/>
              <a:t>Model collapsed to majority-class prediction</a:t>
            </a:r>
            <a:endParaRPr lang="en-US" sz="1800" dirty="0"/>
          </a:p>
          <a:p>
            <a:pPr lvl="1"/>
            <a:r>
              <a:rPr lang="en-US" sz="1800" dirty="0"/>
              <a:t>Flat validation accuracy (~55%)</a:t>
            </a:r>
          </a:p>
          <a:p>
            <a:r>
              <a:rPr lang="en-US" sz="1800" b="1" dirty="0"/>
              <a:t>LR = 1e-4:</a:t>
            </a:r>
            <a:endParaRPr lang="en-US" sz="1800" dirty="0"/>
          </a:p>
          <a:p>
            <a:pPr lvl="1"/>
            <a:r>
              <a:rPr lang="en-US" sz="1800" dirty="0"/>
              <a:t>Improved training stability</a:t>
            </a:r>
          </a:p>
          <a:p>
            <a:pPr lvl="1"/>
            <a:r>
              <a:rPr lang="en-US" sz="1800" dirty="0"/>
              <a:t>Convergence without collapse</a:t>
            </a:r>
          </a:p>
          <a:p>
            <a:pPr lvl="1"/>
            <a:r>
              <a:rPr lang="en-US" sz="1800" dirty="0"/>
              <a:t>Validation accuracy comparable to non-BN model (~79%)</a:t>
            </a:r>
          </a:p>
          <a:p>
            <a:r>
              <a:rPr lang="en-US" sz="1800" b="1" dirty="0"/>
              <a:t>Conclusion:</a:t>
            </a:r>
            <a:br>
              <a:rPr lang="en-US" sz="1800" dirty="0"/>
            </a:br>
            <a:r>
              <a:rPr lang="en-US" sz="1800" dirty="0"/>
              <a:t>Batch normalization was </a:t>
            </a:r>
            <a:r>
              <a:rPr lang="en-US" sz="1800" b="1" dirty="0"/>
              <a:t>highly sensitive to learning rate</a:t>
            </a:r>
            <a:r>
              <a:rPr lang="en-US" sz="1800" dirty="0"/>
              <a:t> and did not improve generalization on this small dataset</a:t>
            </a:r>
          </a:p>
          <a:p>
            <a:pPr marL="0" indent="0">
              <a:buNone/>
            </a:pPr>
            <a:br>
              <a:rPr lang="he-IL" sz="1800" dirty="0"/>
            </a:br>
            <a:r>
              <a:rPr lang="en-US" sz="1800" i="1" dirty="0"/>
              <a:t>BN affected optimization dynamics but provided no clear benefit in validation performance.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13736A-4479-7024-D02A-11E03D325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1220318"/>
            <a:ext cx="3495674" cy="22086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6D0B24-5A26-676D-EA9B-DE1FEB1D277E}"/>
              </a:ext>
            </a:extLst>
          </p:cNvPr>
          <p:cNvSpPr txBox="1"/>
          <p:nvPr/>
        </p:nvSpPr>
        <p:spPr>
          <a:xfrm>
            <a:off x="8882743" y="838200"/>
            <a:ext cx="2471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LR = 1e-3: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94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E958-024D-50FB-1721-5D0A2C4CF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0080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Regularization Techniques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4012B5-2951-FEDD-8D24-B0F19A9921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996371"/>
            <a:ext cx="9772996" cy="600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 Decay (L2):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overfitting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validation stability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Slight improvement in generalization</a:t>
            </a:r>
            <a:endParaRPr kumimoji="0" lang="he-IL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Dropout: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LID4096" altLang="LID4096" sz="1800" dirty="0">
                <a:latin typeface="Arial" panose="020B0604020202020204" pitchFamily="34" charset="0"/>
              </a:rPr>
              <a:t>Lower training accuracy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LID4096" altLang="LID4096" sz="1800" dirty="0">
                <a:latin typeface="Arial" panose="020B0604020202020204" pitchFamily="34" charset="0"/>
              </a:rPr>
              <a:t>More stable validation performance</a:t>
            </a:r>
          </a:p>
          <a:p>
            <a:r>
              <a:rPr lang="en-US" sz="1800" dirty="0">
                <a:latin typeface="Arial" panose="020B0604020202020204" pitchFamily="34" charset="0"/>
              </a:rPr>
              <a:t>Comparable validation accuracy to the non-regularized model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Augmentation:</a:t>
            </a:r>
            <a:endParaRPr kumimoji="0" lang="he-IL" altLang="LID4096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e-IL" altLang="LID4096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e-IL" altLang="LID4096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e-IL" altLang="LID4096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he-IL" altLang="LID4096" sz="18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he-IL" altLang="LID4096" sz="18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LID4096" sz="1800" b="1" dirty="0">
                <a:latin typeface="Arial" panose="020B0604020202020204" pitchFamily="34" charset="0"/>
              </a:rPr>
              <a:t>I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nsight:</a:t>
            </a:r>
            <a:b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sz="1800" dirty="0"/>
              <a:t>Regularization was essential for improving training stability and generalization on a small dataset,</a:t>
            </a:r>
            <a:br>
              <a:rPr lang="en-US" sz="1800" dirty="0"/>
            </a:br>
            <a:r>
              <a:rPr lang="en-US" sz="1800" dirty="0"/>
              <a:t>though no single method completely eliminated overfitting.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0698A-1872-690F-7D05-9CBA61A12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931" y="3134202"/>
            <a:ext cx="3659270" cy="23120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33A212-9A0B-C348-210D-9724355E9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525" y="542702"/>
            <a:ext cx="3703676" cy="2374461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8C25D8D5-36C1-A1BA-2AA2-B9185AD9C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664" y="4290225"/>
            <a:ext cx="76760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impact on training dynamics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accuracy decreased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accuracy increased compared to the non-augmented setting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Did not yield the best validation accuracy overall</a:t>
            </a:r>
          </a:p>
        </p:txBody>
      </p:sp>
    </p:spTree>
    <p:extLst>
      <p:ext uri="{BB962C8B-B14F-4D97-AF65-F5344CB8AC3E}">
        <p14:creationId xmlns:p14="http://schemas.microsoft.com/office/powerpoint/2010/main" val="3985060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9E45A-A426-16D8-8541-B539DE51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 err="1">
                <a:cs typeface="+mn-cs"/>
              </a:rPr>
              <a:t>Error</a:t>
            </a:r>
            <a:r>
              <a:rPr lang="fr-FR" b="1" dirty="0">
                <a:cs typeface="+mn-cs"/>
              </a:rPr>
              <a:t> </a:t>
            </a:r>
            <a:r>
              <a:rPr lang="fr-FR" b="1" dirty="0" err="1">
                <a:cs typeface="+mn-cs"/>
              </a:rPr>
              <a:t>Analysis</a:t>
            </a:r>
            <a:r>
              <a:rPr lang="fr-FR" b="1" dirty="0">
                <a:cs typeface="+mn-cs"/>
              </a:rPr>
              <a:t> </a:t>
            </a:r>
            <a:r>
              <a:rPr lang="he-IL" b="1" dirty="0">
                <a:cs typeface="+mn-cs"/>
              </a:rPr>
              <a:t>:</a:t>
            </a:r>
            <a:br>
              <a:rPr lang="he-IL" b="1" dirty="0">
                <a:cs typeface="+mn-cs"/>
              </a:rPr>
            </a:br>
            <a:r>
              <a:rPr lang="fr-FR" b="1" dirty="0">
                <a:cs typeface="+mn-cs"/>
              </a:rPr>
              <a:t>Confusion Matrix &amp; </a:t>
            </a:r>
            <a:r>
              <a:rPr lang="fr-FR" b="1" dirty="0" err="1">
                <a:cs typeface="+mn-cs"/>
              </a:rPr>
              <a:t>Examples</a:t>
            </a:r>
            <a:endParaRPr lang="LID4096" dirty="0"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1C571-68BF-DA1C-B1C2-900F9A0E0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Confusion Matrix (Validation):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Most samples are classified correctly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Errors occur mainly between visually similar cases</a:t>
            </a:r>
          </a:p>
          <a:p>
            <a:pPr marL="0" indent="0">
              <a:buNone/>
            </a:pPr>
            <a:endParaRPr lang="LID4096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1AE39-BB8C-2748-19D1-269673640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096" y="1825625"/>
            <a:ext cx="44005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06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6D180-D808-63E3-0702-E93AF6949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58" y="258081"/>
            <a:ext cx="4334556" cy="4351338"/>
          </a:xfrm>
        </p:spPr>
        <p:txBody>
          <a:bodyPr/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Correct Predictions: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Clear visual cues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Distinct object appearance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Simple background and lighting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F3BFE-22E6-8E69-CFB3-8DFFEB2E8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5277"/>
            <a:ext cx="10168794" cy="2488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792145-6CBC-4C9C-E7B6-52363C2E9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39948"/>
            <a:ext cx="10288537" cy="25180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5C19A8-DD93-14A7-5882-5EA6D6DF185A}"/>
              </a:ext>
            </a:extLst>
          </p:cNvPr>
          <p:cNvSpPr txBox="1"/>
          <p:nvPr/>
        </p:nvSpPr>
        <p:spPr>
          <a:xfrm>
            <a:off x="4953000" y="217714"/>
            <a:ext cx="58129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Incorrect Predictions: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Ambiguous images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Complex backgrounds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Partial occlusion or unusual viewpoints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18904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AF10-D676-E4FD-13EB-FD811721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Summary &amp; Conclusions </a:t>
            </a: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Training from Scratch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855774-5E32-BD98-3316-669C0F681F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2"/>
            <a:ext cx="87084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CNNs from scratch on a small dataset is highly prone to overfitting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model depth improved feature representation and reduced overfitting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Adam optimizer provided faster and more stable convergence than SGD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normalization affected training dynamics but did not improve generalization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Regularization was critical for success: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 decay and dropout improved stability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augmentation yielded the best validation performance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takeaway:</a:t>
            </a:r>
            <a:b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Generalization, not training accuracy, is the main challenge in small-data regimes</a:t>
            </a:r>
          </a:p>
        </p:txBody>
      </p:sp>
    </p:spTree>
    <p:extLst>
      <p:ext uri="{BB962C8B-B14F-4D97-AF65-F5344CB8AC3E}">
        <p14:creationId xmlns:p14="http://schemas.microsoft.com/office/powerpoint/2010/main" val="1087077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8E03-2C21-AB87-AF41-B145034E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cs typeface="+mn-cs"/>
              </a:rPr>
              <a:t>Part 1</a:t>
            </a:r>
            <a:r>
              <a:rPr lang="he-IL" b="1" dirty="0">
                <a:cs typeface="+mn-cs"/>
              </a:rPr>
              <a:t>:</a:t>
            </a:r>
            <a:br>
              <a:rPr lang="en-US" b="1" dirty="0">
                <a:cs typeface="+mn-cs"/>
              </a:rPr>
            </a:br>
            <a:r>
              <a:rPr lang="en-US" b="1" dirty="0">
                <a:cs typeface="+mn-cs"/>
              </a:rPr>
              <a:t>Final Reflection </a:t>
            </a:r>
            <a:r>
              <a:rPr lang="he-IL" b="1" dirty="0">
                <a:cs typeface="+mn-cs"/>
              </a:rPr>
              <a:t>-</a:t>
            </a:r>
            <a:r>
              <a:rPr lang="en-US" b="1" dirty="0">
                <a:cs typeface="+mn-cs"/>
              </a:rPr>
              <a:t> Training from Scratch</a:t>
            </a:r>
            <a:endParaRPr lang="LID4096" dirty="0"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EDFA-B636-6DDB-A92C-7A5EE34CA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Training CNNs from scratch on a small dataset is challenging and highly prone to overfitting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Architectural improvements alone are insufficient without proper regularization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augmentation proved to be the most effective technique for improving generalization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These findings highlight the limitations of training from scratch in small-data regimes</a:t>
            </a:r>
          </a:p>
        </p:txBody>
      </p:sp>
    </p:spTree>
    <p:extLst>
      <p:ext uri="{BB962C8B-B14F-4D97-AF65-F5344CB8AC3E}">
        <p14:creationId xmlns:p14="http://schemas.microsoft.com/office/powerpoint/2010/main" val="2342190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6EB2-F286-9980-AC78-E42815F74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Part 2 </a:t>
            </a: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Transfer Learning for Image Classification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7F9041-FD52-367D-1931-874C3AFF1B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44638"/>
            <a:ext cx="8789842" cy="3913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 and train a CNN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from scratch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on an external dataset (CIFAR-10),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then apply transfer learning to a small target dataset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compare the results with training from scratch.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Focus on: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Speed of convergence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Final accuracy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Generalization behavior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 descr="What is Transfer Learning? - GeeksforGeeks">
            <a:extLst>
              <a:ext uri="{FF2B5EF4-FFF2-40B4-BE49-F238E27FC236}">
                <a16:creationId xmlns:a16="http://schemas.microsoft.com/office/drawing/2014/main" id="{62724533-C599-4D24-BFE3-01E3BF235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714" y="3945250"/>
            <a:ext cx="4005262" cy="213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2072F4-0CEE-439A-604D-632D0F183990}"/>
              </a:ext>
            </a:extLst>
          </p:cNvPr>
          <p:cNvSpPr txBox="1"/>
          <p:nvPr/>
        </p:nvSpPr>
        <p:spPr>
          <a:xfrm>
            <a:off x="7810500" y="6162675"/>
            <a:ext cx="38004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Task A: CIFAR-10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Task B: Target Dataset (Alpaca vs Not Alpaca)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LID4096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944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57FB2-079F-2EB3-483D-30C362E2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External Dataset and Pretraining (CIFAR-10)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77DFA7-8E68-76C1-F845-8C2F4C28DB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0" y="2037155"/>
            <a:ext cx="6558206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dataset: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CIFAR-10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60,000 natural images,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object classes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pretrain the CNN before the target task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 resized to match the network input size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learn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visual features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task-specific 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D6EC07-FE13-DB61-E071-C5EBDDB84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5124450"/>
            <a:ext cx="120015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47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FD898-87B4-EA54-050C-24ABE4A44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CNN Architecture and Pretraining Setup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9306F4-A705-76E3-6BD6-6C747BD7E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9728"/>
            <a:ext cx="6192721" cy="2662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Architecture: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DeepCNN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(3 conv blocks + classifier head)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224×224 RGB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Pretraining task: CIFAR-10 (10 classes, subset)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Optimizer: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Adam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learning rate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1e-3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Training: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epochs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(CPU constraint)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Output: saved checkpoint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pretrained_cifar10.pth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4FCFA2-12A4-D4A7-682D-76D07A01B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921" y="3605911"/>
            <a:ext cx="4825971" cy="28869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3BA8A3A-4E9C-5D2A-711B-4BC75F4AAAF3}"/>
              </a:ext>
            </a:extLst>
          </p:cNvPr>
          <p:cNvSpPr/>
          <p:nvPr/>
        </p:nvSpPr>
        <p:spPr>
          <a:xfrm>
            <a:off x="8953500" y="5772150"/>
            <a:ext cx="958850" cy="3302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6506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E33F4-63CF-AE5E-02EF-2ADEC458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Pretraining Results on CIFAR-10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D9F2C2-AA95-4F4A-AB4C-7B683C6C42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6624"/>
            <a:ext cx="7036991" cy="247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Training on CIFAR-10 (subset, 2 epochs due to CPU constraints)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Initial improvement in training and validation performance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Model learns transferable low-level visual features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LID4096" altLang="LID4096" sz="1800" dirty="0">
                <a:latin typeface="Arial" panose="020B0604020202020204" pitchFamily="34" charset="0"/>
                <a:cs typeface="Arial" panose="020B0604020202020204" pitchFamily="34" charset="0"/>
              </a:rPr>
              <a:t>Pretraining goal achieved (feature initialization)</a:t>
            </a:r>
          </a:p>
        </p:txBody>
      </p:sp>
    </p:spTree>
    <p:extLst>
      <p:ext uri="{BB962C8B-B14F-4D97-AF65-F5344CB8AC3E}">
        <p14:creationId xmlns:p14="http://schemas.microsoft.com/office/powerpoint/2010/main" val="2091430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1633E-B488-708F-DDF1-5AB35022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Transfer Learning Setup: Loading Pretrained Weights</a:t>
            </a:r>
            <a:endParaRPr lang="LID4096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8D8F3-C780-9556-79C6-A0F1F5734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Initialize the same CNN architecture for the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target dataset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Load pretrained weights from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CIFAR-10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Replace the final classification layer: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CIFAR-10: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10 classes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Target dataset: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2 classes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Pretrained convolutional layers reused as initialization for transfer learning</a:t>
            </a:r>
          </a:p>
          <a:p>
            <a:endParaRPr lang="LID4096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295D1-36A3-5376-A7CE-DB2CF0D72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80" y="4085472"/>
            <a:ext cx="9078592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35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FA21-AEB0-41D3-B65C-570C0026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Fine-Tuning Strategy: Training the Classifier Head</a:t>
            </a:r>
            <a:endParaRPr lang="LID4096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DDD3D9-7523-6FE8-A04E-D2EF25525A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7928" y="1413690"/>
            <a:ext cx="837492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Pretrained convolutional layers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frozen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the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head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trained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LID4096" altLang="LID4096" sz="1800" dirty="0">
                <a:latin typeface="Arial" panose="020B0604020202020204" pitchFamily="34" charset="0"/>
              </a:rPr>
              <a:t>Learning rate: 1e-3</a:t>
            </a:r>
            <a:endParaRPr lang="he-IL" altLang="LID4096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LID4096" altLang="LID4096" sz="1800" dirty="0">
                <a:latin typeface="Arial" panose="020B0604020202020204" pitchFamily="34" charset="0"/>
              </a:rPr>
              <a:t>Rapid initial improvement, followed by mild overfitting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LID4096" altLang="LID4096" sz="1800" dirty="0">
                <a:latin typeface="Arial" panose="020B0604020202020204" pitchFamily="34" charset="0"/>
              </a:rPr>
              <a:t>Achieved the best validation accuracy, but with some instability across epochs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he-IL" altLang="LID4096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200EC-889D-00CD-84E4-55A8D75A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16" y="3516963"/>
            <a:ext cx="4759098" cy="3051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3FCC63-8DF9-CE29-E8BF-EC3ACE185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86" y="3429123"/>
            <a:ext cx="4985657" cy="315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5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5A1D3-F849-996B-1D37-A16023E17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Fine-Tuning Strategy: Unfreezing All Layers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73068-47F2-B68B-CF5C-88442C03E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Independent experiment starting from CIFAR-10 pretrained weights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Entire network unfrozen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Fine-tuning performed with a smaller learning rate (1e-4)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Weight decay used for regularization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Training accuracy increased (up to ~0.60)</a:t>
            </a:r>
          </a:p>
          <a:p>
            <a:r>
              <a:rPr lang="en-US" sz="1800" b="1" dirty="0"/>
              <a:t>Validation accuracy peaked early (epoch 3) and then decreased</a:t>
            </a:r>
            <a:endParaRPr lang="en-US" sz="1800" dirty="0"/>
          </a:p>
          <a:p>
            <a:endParaRPr lang="LID4096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024EA9-ADDE-2F57-20D1-DD75130D7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8" y="4355646"/>
            <a:ext cx="3960469" cy="25023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92C164-09C3-6CC0-9ED3-32B9CBB5A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662" y="4199874"/>
            <a:ext cx="4267881" cy="26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08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BA3-61C3-127E-5A86-7C324B71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Comparison: Transfer Learning vs Training from Scratch</a:t>
            </a:r>
            <a:endParaRPr lang="LID4096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2CFA69-564F-DBB9-EBF2-26ED5EAC5F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608" y="1370519"/>
            <a:ext cx="7299959" cy="444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LID4096" sz="1800" dirty="0">
                <a:latin typeface="Arial" panose="020B0604020202020204" pitchFamily="34" charset="0"/>
              </a:rPr>
              <a:t>• Same CNN architecture and preprocessing for all</a:t>
            </a:r>
            <a:r>
              <a:rPr lang="he-IL" altLang="LID4096" sz="1800" dirty="0">
                <a:latin typeface="Arial" panose="020B0604020202020204" pitchFamily="34" charset="0"/>
              </a:rPr>
              <a:t> </a:t>
            </a:r>
            <a:r>
              <a:rPr lang="en-US" altLang="LID4096" sz="1800" dirty="0">
                <a:latin typeface="Arial" panose="020B0604020202020204" pitchFamily="34" charset="0"/>
              </a:rPr>
              <a:t>experiments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LID4096" sz="1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LID4096" sz="1800" dirty="0">
                <a:latin typeface="Arial" panose="020B0604020202020204" pitchFamily="34" charset="0"/>
              </a:rPr>
              <a:t>• Transfer learning (freeze head only):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LID4096" sz="1400" dirty="0">
                <a:latin typeface="Arial" panose="020B0604020202020204" pitchFamily="34" charset="0"/>
              </a:rPr>
              <a:t>  Faster convergence</a:t>
            </a:r>
          </a:p>
          <a:p>
            <a:pPr lvl="1"/>
            <a:r>
              <a:rPr lang="he-IL" sz="1400" dirty="0">
                <a:latin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</a:rPr>
              <a:t>More reliable early training dynamics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LID4096" sz="1400" dirty="0">
                <a:latin typeface="Arial" panose="020B0604020202020204" pitchFamily="34" charset="0"/>
              </a:rPr>
              <a:t>  Better generalization behavior on a small dataset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LID4096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LID4096" sz="1800" dirty="0">
                <a:latin typeface="Arial" panose="020B0604020202020204" pitchFamily="34" charset="0"/>
              </a:rPr>
              <a:t>• Transfer learning (unfreeze all layers):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LID4096" sz="1400" dirty="0">
                <a:latin typeface="Arial" panose="020B0604020202020204" pitchFamily="34" charset="0"/>
              </a:rPr>
              <a:t>Fast convergence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LID4096" sz="1400" dirty="0">
                <a:latin typeface="Arial" panose="020B0604020202020204" pitchFamily="34" charset="0"/>
              </a:rPr>
              <a:t>Overfitting observed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LID4096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LID4096" sz="1800" dirty="0">
                <a:latin typeface="Arial" panose="020B0604020202020204" pitchFamily="34" charset="0"/>
              </a:rPr>
              <a:t>• Training from scratch: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LID4096" sz="1400" dirty="0">
                <a:latin typeface="Arial" panose="020B0604020202020204" pitchFamily="34" charset="0"/>
              </a:rPr>
              <a:t>  Slower convergence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LID4096" sz="1400" dirty="0">
                <a:latin typeface="Arial" panose="020B0604020202020204" pitchFamily="34" charset="0"/>
              </a:rPr>
              <a:t>  Comparable but less stable validation performance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LID4096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LID4096" sz="1800" dirty="0">
                <a:latin typeface="Arial" panose="020B0604020202020204" pitchFamily="34" charset="0"/>
              </a:rPr>
              <a:t>• Overall, transfer learning provides a more reliable training strategy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LID4096" sz="1800" dirty="0">
                <a:latin typeface="Arial" panose="020B0604020202020204" pitchFamily="34" charset="0"/>
              </a:rPr>
              <a:t>  when the target dataset is small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58B19-67A3-AC4E-8559-D17D9CA36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875" y="1807028"/>
            <a:ext cx="4667925" cy="29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38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6A8B-2328-A094-FC39-1AFFD232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Considerations and Limitations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E6F96-6D94-56FE-C74B-DBD95E6AD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Small target dataset (~300 images) limits generalization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Validation accuracy shows variability across runs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CPU-based training constrained number of epochs and experiments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Full fine-tuning increases risk of overfitting on small datasets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Results depend on data split and preprocessing choices</a:t>
            </a:r>
          </a:p>
          <a:p>
            <a:endParaRPr lang="LID4096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00B10-9E4C-5F0B-745E-7F6D0981B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093" y="4166382"/>
            <a:ext cx="6134956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85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2B6EB-58E2-FDC3-C70C-25E4AEDCD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 2- Conclusions and Final Reflection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20072-43DB-BC8D-16DD-2DC62C8D8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Transfer learning is effective when the target dataset is small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Pretraining on CIFAR-10 enabled faster convergence and more reliable early validation performance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Training only the classifier head provided the best generalization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Full fine-tuning led to overfitting on the target dataset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Experimental results highlight the importance of choosing an appropriate fine-tuning strategy</a:t>
            </a:r>
          </a:p>
          <a:p>
            <a:endParaRPr lang="LID4096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F80C7A-7554-CE2E-20CF-D8B4F110E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560" y="3842658"/>
            <a:ext cx="3628007" cy="293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97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5150E-43D1-9BD4-8E4D-BBDFA4510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 a deep pretrained network (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ResNet50 trained on ImageNet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 and adapt it to a small target dataset.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Evaluate how freezing and fine-tuning different layers affects performance compared to earlier approaches.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Focus on: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Effect of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freezing vs fine-tuning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pretrained layers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Training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stability and convergence speed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Final accuracy and generalization on a small dataset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Comparison with: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Custom CNN (Part 1)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CNN with transfer learning (Part 2)</a:t>
            </a:r>
          </a:p>
          <a:p>
            <a:pPr marL="0" indent="0">
              <a:buNone/>
            </a:pPr>
            <a:endParaRPr lang="LID4096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B8A65D-BDF9-0A2D-EA01-FB870CAA0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1881" y="318254"/>
            <a:ext cx="11093998" cy="1092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/>
              <a:t>Part 3:</a:t>
            </a:r>
            <a:br>
              <a:rPr lang="he-IL" sz="3600" b="1" dirty="0"/>
            </a:br>
            <a:r>
              <a:rPr lang="en-US" sz="3600" b="1" dirty="0"/>
              <a:t>Transfer Learning with a Pretrained Network (ResNet50)</a:t>
            </a:r>
          </a:p>
        </p:txBody>
      </p:sp>
    </p:spTree>
    <p:extLst>
      <p:ext uri="{BB962C8B-B14F-4D97-AF65-F5344CB8AC3E}">
        <p14:creationId xmlns:p14="http://schemas.microsoft.com/office/powerpoint/2010/main" val="1761105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360B-87CA-EC60-DCA2-A40BE64D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&amp; Preprocessing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0D7AF-9CBA-130D-60C7-B9543B91D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Target task: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Binary classification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(alpaca vs not alpaca)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Dataset size: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327 images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split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80/20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(seeded)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 setup for ResNet50: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Resize to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224×224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Normalize using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ImageNet mean/std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Regularization: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 augmentation on train only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flip, rotation, color jitter</a:t>
            </a:r>
          </a:p>
          <a:p>
            <a:pPr>
              <a:lnSpc>
                <a:spcPct val="150000"/>
              </a:lnSpc>
            </a:pPr>
            <a:endParaRPr lang="LID4096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399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6C73-D425-DFE6-7A47-96073FF4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Adaptation &amp; Freezing Strategy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0F9DCF-6895-7B61-21DE-0E5A0AAD26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3092"/>
            <a:ext cx="6609502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ResNet50 pretrained on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ImageNet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classification layer replaced to match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classes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Frozen backbone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the classification head is trainable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Trainable parameters: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~4K out of 23M (~0.02%)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51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AACC-F911-F111-CCD4-491D1F09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Adapting ResNet50</a:t>
            </a:r>
            <a:endParaRPr lang="LID4096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A846D9-AD66-19DC-6F07-B9CE9A444F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73362"/>
            <a:ext cx="8193974" cy="3855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ResNet50 pretrained on </a:t>
            </a:r>
            <a:r>
              <a:rPr lang="en-US" b="1" dirty="0"/>
              <a:t>ImageNet</a:t>
            </a:r>
            <a:endParaRPr lang="en-US" dirty="0"/>
          </a:p>
          <a:p>
            <a:r>
              <a:rPr lang="en-US" dirty="0"/>
              <a:t>Final classification layer replaced for </a:t>
            </a:r>
            <a:r>
              <a:rPr lang="en-US" b="1" dirty="0"/>
              <a:t>2 classes</a:t>
            </a:r>
            <a:endParaRPr lang="en-US" dirty="0"/>
          </a:p>
          <a:p>
            <a:r>
              <a:rPr lang="en-US" dirty="0"/>
              <a:t>Initial setup:</a:t>
            </a:r>
          </a:p>
          <a:p>
            <a:pPr lvl="1"/>
            <a:r>
              <a:rPr lang="en-US" b="1" dirty="0"/>
              <a:t>Frozen backbone</a:t>
            </a:r>
            <a:endParaRPr lang="en-US" dirty="0"/>
          </a:p>
          <a:p>
            <a:pPr lvl="1"/>
            <a:r>
              <a:rPr lang="en-US" dirty="0"/>
              <a:t>Train </a:t>
            </a:r>
            <a:r>
              <a:rPr lang="en-US" b="1" dirty="0"/>
              <a:t>classification head only</a:t>
            </a:r>
            <a:endParaRPr lang="en-US" dirty="0"/>
          </a:p>
          <a:p>
            <a:r>
              <a:rPr lang="en-US" dirty="0"/>
              <a:t>Trainable parameters: </a:t>
            </a:r>
            <a:r>
              <a:rPr lang="en-US" b="1" dirty="0"/>
              <a:t>~4K / 23M</a:t>
            </a:r>
            <a:endParaRPr lang="en-US" dirty="0"/>
          </a:p>
          <a:p>
            <a:endParaRPr lang="he-IL" dirty="0"/>
          </a:p>
          <a:p>
            <a:r>
              <a:rPr lang="en-US" dirty="0"/>
              <a:t>Goal: fast and stable adaptation to a small dataset</a:t>
            </a:r>
          </a:p>
        </p:txBody>
      </p:sp>
    </p:spTree>
    <p:extLst>
      <p:ext uri="{BB962C8B-B14F-4D97-AF65-F5344CB8AC3E}">
        <p14:creationId xmlns:p14="http://schemas.microsoft.com/office/powerpoint/2010/main" val="261715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FF05D-6A65-8607-3EC6-9C04715A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1 - Frozen Backbone </a:t>
            </a:r>
            <a:endParaRPr lang="LID4096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0DA9BE-78FF-8BB1-918B-863BE24B50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1115" y="1910378"/>
            <a:ext cx="5160387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only the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classifier head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Adam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lr=1e-3, weight_decay=1e-4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convergence, stable training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accuracy: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~0.90–0.92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AB269-F9F4-E440-E5BA-846F52AF9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938" y="1311032"/>
            <a:ext cx="4401354" cy="282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DC3E49-99D8-FF45-0D1C-938221803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587" y="4302402"/>
            <a:ext cx="3986213" cy="255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59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0ADCF-CEE5-76C6-3B06-01FFA510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2 - Fine-Tuning layer4</a:t>
            </a:r>
            <a:br>
              <a:rPr lang="en-US" b="1" dirty="0"/>
            </a:b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62C679-1F45-61D6-D430-1D8ED59796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7057" y="1690688"/>
            <a:ext cx="6968574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Unfreeze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layer4 + classification head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Earlier layers remain frozen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adapt high-level features to the target task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trainable parameters than Experiment 1, but still controlled</a:t>
            </a:r>
          </a:p>
        </p:txBody>
      </p:sp>
    </p:spTree>
    <p:extLst>
      <p:ext uri="{BB962C8B-B14F-4D97-AF65-F5344CB8AC3E}">
        <p14:creationId xmlns:p14="http://schemas.microsoft.com/office/powerpoint/2010/main" val="3034830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E24C1-D55E-5B97-C2C4-B105F0FD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2 </a:t>
            </a:r>
            <a:r>
              <a:rPr lang="he-IL" b="1" dirty="0"/>
              <a:t>-</a:t>
            </a:r>
            <a:r>
              <a:rPr lang="en-US" b="1" dirty="0"/>
              <a:t> Fine-Tuning layer4 + Head</a:t>
            </a:r>
            <a:br>
              <a:rPr lang="en-US" b="1" dirty="0"/>
            </a:b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2415F7-05AA-95A3-8E42-E04AD78785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7686" y="1410809"/>
            <a:ext cx="4480714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Unfreeze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layer4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classification head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learning rates: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layer4: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1e-4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1e-3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flexibility than frozen setup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validation accuracy: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~0.97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8D37B8-1B23-DCC4-65EE-9016D4276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354" y="1281923"/>
            <a:ext cx="4137932" cy="2614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A80E06-66F5-0214-7DE9-AA09482A1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815" y="3952195"/>
            <a:ext cx="4599009" cy="290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31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E7602A-9B41-7C94-1077-B7D65EE5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63509" cy="1616529"/>
          </a:xfrm>
        </p:spPr>
        <p:txBody>
          <a:bodyPr>
            <a:normAutofit/>
          </a:bodyPr>
          <a:lstStyle/>
          <a:p>
            <a:r>
              <a:rPr lang="en-US" sz="4000" b="1"/>
              <a:t>Frozen vs Fine-Tuned ResNet50</a:t>
            </a:r>
            <a:endParaRPr lang="LID4096" sz="40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D197F9-FBC5-C06E-EA99-8A861ECFBC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0433775"/>
              </p:ext>
            </p:extLst>
          </p:nvPr>
        </p:nvGraphicFramePr>
        <p:xfrm>
          <a:off x="905668" y="3087404"/>
          <a:ext cx="10383433" cy="2989184"/>
        </p:xfrm>
        <a:graphic>
          <a:graphicData uri="http://schemas.openxmlformats.org/drawingml/2006/table">
            <a:tbl>
              <a:tblPr/>
              <a:tblGrid>
                <a:gridCol w="2395844">
                  <a:extLst>
                    <a:ext uri="{9D8B030D-6E8A-4147-A177-3AD203B41FA5}">
                      <a16:colId xmlns:a16="http://schemas.microsoft.com/office/drawing/2014/main" val="1885776754"/>
                    </a:ext>
                  </a:extLst>
                </a:gridCol>
                <a:gridCol w="2741814">
                  <a:extLst>
                    <a:ext uri="{9D8B030D-6E8A-4147-A177-3AD203B41FA5}">
                      <a16:colId xmlns:a16="http://schemas.microsoft.com/office/drawing/2014/main" val="2861753116"/>
                    </a:ext>
                  </a:extLst>
                </a:gridCol>
                <a:gridCol w="2482337">
                  <a:extLst>
                    <a:ext uri="{9D8B030D-6E8A-4147-A177-3AD203B41FA5}">
                      <a16:colId xmlns:a16="http://schemas.microsoft.com/office/drawing/2014/main" val="1960521711"/>
                    </a:ext>
                  </a:extLst>
                </a:gridCol>
                <a:gridCol w="2763438">
                  <a:extLst>
                    <a:ext uri="{9D8B030D-6E8A-4147-A177-3AD203B41FA5}">
                      <a16:colId xmlns:a16="http://schemas.microsoft.com/office/drawing/2014/main" val="3069428537"/>
                    </a:ext>
                  </a:extLst>
                </a:gridCol>
              </a:tblGrid>
              <a:tr h="685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 dirty="0">
                          <a:effectLst/>
                          <a:latin typeface="Arial" panose="020B0604020202020204" pitchFamily="34" charset="0"/>
                        </a:rPr>
                        <a:t>Setup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Best Val Acc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Stability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Notes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312014"/>
                  </a:ext>
                </a:extLst>
              </a:tr>
              <a:tr h="11520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Frozen backbone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L" sz="2800" b="0" i="0" u="none" strike="noStrike">
                          <a:effectLst/>
                          <a:latin typeface="Arial" panose="020B0604020202020204" pitchFamily="34" charset="0"/>
                        </a:rPr>
                        <a:t>~0.92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Very stable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Fast convergence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847900"/>
                  </a:ext>
                </a:extLst>
              </a:tr>
              <a:tr h="11520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 dirty="0">
                          <a:effectLst/>
                          <a:latin typeface="Arial" panose="020B0604020202020204" pitchFamily="34" charset="0"/>
                        </a:rPr>
                        <a:t>Fine-tuned layer4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L" sz="2800" b="1" i="0" u="none" strike="noStrike">
                          <a:effectLst/>
                          <a:latin typeface="Arial" panose="020B0604020202020204" pitchFamily="34" charset="0"/>
                        </a:rPr>
                        <a:t>~0.97</a:t>
                      </a:r>
                      <a:endParaRPr lang="en-IL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Stable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 dirty="0">
                          <a:effectLst/>
                          <a:latin typeface="Arial" panose="020B0604020202020204" pitchFamily="34" charset="0"/>
                        </a:rPr>
                        <a:t>Better adaptation</a:t>
                      </a:r>
                    </a:p>
                  </a:txBody>
                  <a:tcPr marL="155687" marR="155687" marT="77843" marB="7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742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653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14616-BC15-ED80-C43F-57D27137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Part 3 </a:t>
            </a:r>
            <a:r>
              <a:rPr lang="he-IL" b="1" dirty="0"/>
              <a:t>-</a:t>
            </a:r>
            <a:r>
              <a:rPr lang="en-US" b="1" dirty="0"/>
              <a:t> Conclusions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1312A-98EA-9404-4B79-55DD65552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Transfer learning with ResNet50 significantly outperforms training a CNN from scratch on a small dataset.</a:t>
            </a:r>
          </a:p>
          <a:p>
            <a:r>
              <a:rPr lang="en-US" sz="2400" dirty="0"/>
              <a:t>Training only the classification head already achieves strong performance.</a:t>
            </a:r>
          </a:p>
          <a:p>
            <a:r>
              <a:rPr lang="en-US" sz="2400" dirty="0"/>
              <a:t>Fine-tuning the last </a:t>
            </a:r>
            <a:r>
              <a:rPr lang="en-US" sz="2400" dirty="0" err="1"/>
              <a:t>ResNet</a:t>
            </a:r>
            <a:r>
              <a:rPr lang="en-US" sz="2400" dirty="0"/>
              <a:t> block further improves validation accuracy.</a:t>
            </a:r>
          </a:p>
          <a:p>
            <a:r>
              <a:rPr lang="en-US" sz="2400" dirty="0"/>
              <a:t>Carefully controlling learning rates is crucial for stable fine-tuning.</a:t>
            </a:r>
          </a:p>
          <a:p>
            <a:endParaRPr lang="he-IL" sz="2400" dirty="0"/>
          </a:p>
          <a:p>
            <a:r>
              <a:rPr lang="en-US" sz="2400" dirty="0"/>
              <a:t>Fine-tuning high-level features leads to better adaptation without sacrificing stability.</a:t>
            </a:r>
          </a:p>
          <a:p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16571560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52AC-C100-7277-31F3-C47C6269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Final Reflection</a:t>
            </a:r>
            <a:br>
              <a:rPr lang="en-US" b="1" dirty="0"/>
            </a:br>
            <a:r>
              <a:rPr lang="en-US" dirty="0"/>
              <a:t>Architectural Choices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E0665-0893-7E9F-B237-A4C055C1A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most important architectural factor was choosing a model with enough capacity without overfitting the small dataset.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Shallow CNNs were too limited and showed clear overfitting behavior.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Deeper CNNs improved feature extraction and slightly reduced the gap between training and validation performance.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biggest improvement came from using pretrained architectures, especially ResNet50, which provided strong feature representations from the start.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this project, using a well-established pretrained model mattered more than designing a complex custom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409305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BC55-82EC-02AF-8D57-1E6DF046A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Optimization Strategies</a:t>
            </a:r>
            <a:endParaRPr lang="LID409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B6A5E-0D38-8AAA-CEC9-E84286E3E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LID4096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FC223BD-3A30-E24C-3306-D4A0FBE5D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86" y="1690688"/>
            <a:ext cx="10885714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Adam was the most reliable optimizer across all experiments.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converged faster and produced more stable validation results than SGD with momentum.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rate selection had a strong impact on training stability, especially when using batch normalization or fine-tuning pretrained layers.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normalization did not improve generalization and was very sensitive to the learning rate.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Regularization techniques were essential, particularly weight decay, dropout, and data augmentation.</a:t>
            </a:r>
          </a:p>
        </p:txBody>
      </p:sp>
    </p:spTree>
    <p:extLst>
      <p:ext uri="{BB962C8B-B14F-4D97-AF65-F5344CB8AC3E}">
        <p14:creationId xmlns:p14="http://schemas.microsoft.com/office/powerpoint/2010/main" val="3747732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E271-BD62-6F6E-B17C-4082BC96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Regularization and Generalization</a:t>
            </a:r>
            <a:endParaRPr lang="LID409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23081-3164-18D6-AAF0-96EA86166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Overfitting was the main challenge due to the small dataset size.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 decay and dropout helped stabilize training but did not fully solve overfitting.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augmentation had the strongest positive effect on validation performance.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Although augmentation reduced training accuracy, it improved generalization, which was the main goal.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results emphasize that validation performance is more important than high training accuracy.</a:t>
            </a:r>
            <a:endParaRPr lang="LID4096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444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39A3-7A71-3E2C-A562-55F5B574B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When Transfer Learning Helped</a:t>
            </a:r>
            <a:endParaRPr lang="LID409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95F6D-678A-6664-086F-1BD0E6B9B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Transfer learning was very effective for this task.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Initializing models with pretrained weights led to faster convergence and more stable training.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Training only the classifier head gave better generalization than fully fine-tuning the network.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Full fine-tuning often caused overfitting when the dataset was small.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best results were achieved using ResNet50 pretrained on ImageNet, especially when fine-tuning only the last block.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791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585D-3EE8-34B2-E226-4DD36AD4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I Would Do Differently</a:t>
            </a:r>
            <a:endParaRPr lang="LID409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7D5CB-FA63-DF09-A160-8B52DB9F6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more time, I would explore additional fine-tuning strategies, such as gradual unfreezing.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more systematic hyperparameter search could further improve stability and performance.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more data, full fine-tuning would likely become more effective and less prone to overfitting.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detailed error analysis could help identify specific failure cases and guide further improvements.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17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8373</TotalTime>
  <Words>2091</Words>
  <Application>Microsoft Office PowerPoint</Application>
  <PresentationFormat>Widescreen</PresentationFormat>
  <Paragraphs>331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Office Theme</vt:lpstr>
      <vt:lpstr>Image Classification with Convolutional Neural Networks </vt:lpstr>
      <vt:lpstr>Problem Definition &amp; Dataset</vt:lpstr>
      <vt:lpstr>Part 1- Experimental Setup - Training from Scratch</vt:lpstr>
      <vt:lpstr>Baseline Architecture - Shallow CNN</vt:lpstr>
      <vt:lpstr>Baseline Results - Shallow CNN</vt:lpstr>
      <vt:lpstr>Optimizer Comparison - Adam vs. SGD</vt:lpstr>
      <vt:lpstr>Architecture Comparison – Shallow vs. Deep CNN</vt:lpstr>
      <vt:lpstr>Batch Normalization - Analysis</vt:lpstr>
      <vt:lpstr>Regularization Techniques</vt:lpstr>
      <vt:lpstr>Error Analysis : Confusion Matrix &amp; Examples</vt:lpstr>
      <vt:lpstr>PowerPoint Presentation</vt:lpstr>
      <vt:lpstr>Summary &amp; Conclusions : Training from Scratch</vt:lpstr>
      <vt:lpstr>Part 1: Final Reflection - Training from Scratch</vt:lpstr>
      <vt:lpstr>Part 2 :  Transfer Learning for Image Classification</vt:lpstr>
      <vt:lpstr>External Dataset and Pretraining (CIFAR-10)</vt:lpstr>
      <vt:lpstr>CNN Architecture and Pretraining Setup</vt:lpstr>
      <vt:lpstr>Pretraining Results on CIFAR-10</vt:lpstr>
      <vt:lpstr>Transfer Learning Setup: Loading Pretrained Weights</vt:lpstr>
      <vt:lpstr>Fine-Tuning Strategy: Training the Classifier Head</vt:lpstr>
      <vt:lpstr>Fine-Tuning Strategy: Unfreezing All Layers</vt:lpstr>
      <vt:lpstr>Comparison: Transfer Learning vs Training from Scratch</vt:lpstr>
      <vt:lpstr>Considerations and Limitations</vt:lpstr>
      <vt:lpstr>Part 2- Conclusions and Final Reflection</vt:lpstr>
      <vt:lpstr>Part 3: Transfer Learning with a Pretrained Network (ResNet50)</vt:lpstr>
      <vt:lpstr>Dataset &amp; Preprocessing </vt:lpstr>
      <vt:lpstr>Model Adaptation &amp; Freezing Strategy</vt:lpstr>
      <vt:lpstr>Adapting ResNet50</vt:lpstr>
      <vt:lpstr>Experiment 1 - Frozen Backbone </vt:lpstr>
      <vt:lpstr>Experiment 2 - Fine-Tuning layer4 </vt:lpstr>
      <vt:lpstr>Experiment 2 - Fine-Tuning layer4 + Head </vt:lpstr>
      <vt:lpstr>Frozen vs Fine-Tuned ResNet50</vt:lpstr>
      <vt:lpstr>Part 3 - Conclusions</vt:lpstr>
      <vt:lpstr>Final Reflection Architectural Choices</vt:lpstr>
      <vt:lpstr>Optimization Strategies</vt:lpstr>
      <vt:lpstr>Regularization and Generalization</vt:lpstr>
      <vt:lpstr>When Transfer Learning Helped</vt:lpstr>
      <vt:lpstr>What I Would Do Differently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 Greenberg</dc:creator>
  <cp:lastModifiedBy>Mor Greenberg</cp:lastModifiedBy>
  <cp:revision>16</cp:revision>
  <dcterms:created xsi:type="dcterms:W3CDTF">2026-01-12T15:39:49Z</dcterms:created>
  <dcterms:modified xsi:type="dcterms:W3CDTF">2026-02-01T16:59:21Z</dcterms:modified>
</cp:coreProperties>
</file>