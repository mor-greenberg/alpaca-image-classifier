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3" r:id="rId10"/>
    <p:sldId id="264" r:id="rId11"/>
    <p:sldId id="267" r:id="rId12"/>
  </p:sldIdLst>
  <p:sldSz cx="12192000" cy="6858000"/>
  <p:notesSz cx="6858000" cy="9144000"/>
  <p:defaultTextStyle>
    <a:defPPr>
      <a:defRPr lang="LID4096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BF315A-EE0F-4492-9C68-5A5DC84CABED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LID4096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3A25CFA-9BC4-4292-9185-CEAE3AEEEE8B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435339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3A25CFA-9BC4-4292-9185-CEAE3AEEEE8B}" type="slidenum">
              <a:rPr lang="LID4096" smtClean="0"/>
              <a:t>7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059301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77E884-419C-C9F8-4EF2-7D2056DCBA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AB4F7C2-AEAF-97DD-0DA1-7F231A7D1C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4A4501-A499-72F1-0A87-CBCE6F3D24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A4D4-EC58-4496-BA1E-947EA10033A3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90079D-CC70-51A8-5B76-8683771630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0D09C9-A83C-1DD0-67F4-0295EA8E8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6AB-9771-42EB-9863-8BE90D4246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841889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7B03DE-92BF-58E4-7AF5-B9E9FCD8D4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7DCC9D-75C4-3696-14C9-3CF32FF411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16C431-D08E-3DEA-B75F-840DABF976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A4D4-EC58-4496-BA1E-947EA10033A3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005CE-3279-CDD6-9EFD-411561FA5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4FB4FB-1D40-ED37-CD0E-E06B038BE6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6AB-9771-42EB-9863-8BE90D4246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464093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5DD66F-B504-F1C5-CB19-28468A4826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E29BBA-7EFC-07E8-472F-17F740A72D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E96C7F-DECA-3E7E-1118-5E3B196339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A4D4-EC58-4496-BA1E-947EA10033A3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BD9921-62BD-540D-965B-1B2AEBB08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E4A26F-5FEE-B925-A229-1AED36CFD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6AB-9771-42EB-9863-8BE90D4246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393786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A0042-0A37-5A56-8177-599F6E737A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62E22-7E6F-04C7-80D8-415E2110D0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ED29B-EADF-2E70-0DC4-6C1B38A7623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287AE3C-973A-5975-9D17-19C20A466A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A4D4-EC58-4496-BA1E-947EA10033A3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02A759-64FD-FF67-E719-EBB78821D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F0D90F-F706-54BD-FA9E-10F74681C3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6AB-9771-42EB-9863-8BE90D4246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715089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57E21-DDF3-FAD8-E2A2-E76A09D9C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50BD1C-3000-FF00-98AE-DD46651842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CBBE81-C9F9-C1FC-C921-410E7F1D94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25E59B-E161-65A0-0DC3-9EA34F62E32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77161C-9166-0CBE-6F98-CD4AC152D5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E31E33-D8C2-A74D-81BD-CD899DCFA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A4D4-EC58-4496-BA1E-947EA10033A3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0E6E48E-CA96-9B56-ACA1-116B84132E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DFE195-3E92-B829-7F36-54E0424DF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6AB-9771-42EB-9863-8BE90D4246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454517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EA5A2B-6AC8-D0BC-F806-5CFAB832D1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743D3CA-AFB6-A17B-7647-F369B9AEE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A4D4-EC58-4496-BA1E-947EA10033A3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62497C-50EF-F393-0ECC-047852B923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9031E2-0DE7-CEB6-E522-118979ADE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6AB-9771-42EB-9863-8BE90D4246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8434773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A6A7D89-DC66-142C-21CE-AB70C601FE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A4D4-EC58-4496-BA1E-947EA10033A3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96D9F29-812A-D597-4B69-2ED397E4B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D89CD8-B791-08BF-D392-D3C92CFED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6AB-9771-42EB-9863-8BE90D4246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6806141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540D67-0492-34E7-AAA9-3ED45DDCF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9DCB71-6650-EE8F-E5C9-1AE2E17322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C71434-081B-3978-020D-EABDBC6E2C7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38EE1A-624C-5699-621E-EAB42051D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A4D4-EC58-4496-BA1E-947EA10033A3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1C4291-2432-14D5-B62E-53BD5730A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5872A-450B-0221-BB84-A1DCF66ED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6AB-9771-42EB-9863-8BE90D4246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8479910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C5C689-4E95-0FFE-A1A4-AE55944F28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56E0DC-702A-EF04-096E-0EF2666CB1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LID4096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ACD696-732E-E99A-73D6-08B197174D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02A1BA-A6EE-48BB-5693-85E66958B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A4D4-EC58-4496-BA1E-947EA10033A3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FE3E99D-A83C-F913-0073-6343241EB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A8826-63B3-82A9-430F-A0AA4E10BC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6AB-9771-42EB-9863-8BE90D4246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1382357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4A740-15AE-A7E5-AA11-77F787228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991BA92-E694-452F-723B-AA6708773D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A5E35C-5DEA-038E-C4F7-B805DAE410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A4D4-EC58-4496-BA1E-947EA10033A3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9E4939-934E-B3F0-AAF1-3F8551F01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86DA60-EBEB-9F2C-24F0-B0990CBD8D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6AB-9771-42EB-9863-8BE90D4246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6475156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1DE7F63-4822-C87A-9C70-1886D9ADA17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E2E764-E21E-7180-FE80-665371B958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F5F37-FF35-4E60-6A6A-66CF8BDAA8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92A4D4-EC58-4496-BA1E-947EA10033A3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910C95-EF86-993E-EEEA-DFA7D3CE71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524581-34BE-0391-1B35-402F81333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E106AB-9771-42EB-9863-8BE90D4246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0146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3C9DCE1-A4DB-2618-D814-A9AD065EAC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LID4096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4D8D8-1C26-09B1-0329-076D58D2F8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LID4096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3A437-B605-D400-2F3C-569448C795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A92A4D4-EC58-4496-BA1E-947EA10033A3}" type="datetimeFigureOut">
              <a:rPr lang="LID4096" smtClean="0"/>
              <a:t>12/16/2025</a:t>
            </a:fld>
            <a:endParaRPr lang="LID4096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6F2ABE-FE46-FE85-BD13-83C3CE28D1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AD9CAD-2710-531A-890C-F949992E8EB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E106AB-9771-42EB-9863-8BE90D4246B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270109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LID4096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FA178E-461C-C87B-A4A9-A8DA1CB15C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76800" y="640080"/>
            <a:ext cx="6672072" cy="3566160"/>
          </a:xfrm>
        </p:spPr>
        <p:txBody>
          <a:bodyPr anchor="b">
            <a:normAutofit/>
          </a:bodyPr>
          <a:lstStyle/>
          <a:p>
            <a:r>
              <a:rPr lang="en-US" sz="5400" b="1" dirty="0"/>
              <a:t>Alpaca or Not Alpaca</a:t>
            </a:r>
            <a:br>
              <a:rPr lang="en-US" sz="5400" dirty="0"/>
            </a:br>
            <a:r>
              <a:rPr lang="en-US" sz="4000" dirty="0"/>
              <a:t>Image Classification with </a:t>
            </a:r>
            <a:r>
              <a:rPr lang="en-US" sz="4000" dirty="0" err="1"/>
              <a:t>fastai</a:t>
            </a:r>
            <a:br>
              <a:rPr lang="en-US" sz="5400" dirty="0"/>
            </a:br>
            <a:endParaRPr lang="LID4096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5A7B72D-DFA0-8122-2839-CEADCFE7A7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297760" y="4636008"/>
            <a:ext cx="6251111" cy="1572768"/>
          </a:xfrm>
        </p:spPr>
        <p:txBody>
          <a:bodyPr>
            <a:normAutofit lnSpcReduction="10000"/>
          </a:bodyPr>
          <a:lstStyle/>
          <a:p>
            <a:pPr algn="l"/>
            <a:r>
              <a:rPr lang="en-US" dirty="0"/>
              <a:t>Deep Learning – Exercise 1</a:t>
            </a:r>
          </a:p>
          <a:p>
            <a:pPr algn="l"/>
            <a:r>
              <a:rPr lang="en-US" dirty="0"/>
              <a:t>Mor Greenberg</a:t>
            </a:r>
          </a:p>
          <a:p>
            <a:pPr algn="l"/>
            <a:br>
              <a:rPr lang="en-US" dirty="0"/>
            </a:br>
            <a:endParaRPr lang="en-US" dirty="0"/>
          </a:p>
          <a:p>
            <a:pPr algn="l"/>
            <a:endParaRPr lang="LID4096" dirty="0"/>
          </a:p>
        </p:txBody>
      </p:sp>
      <p:pic>
        <p:nvPicPr>
          <p:cNvPr id="5" name="Picture 4" descr="A person kneeling next to two llamas&#10;&#10;AI-generated content may be incorrect.">
            <a:extLst>
              <a:ext uri="{FF2B5EF4-FFF2-40B4-BE49-F238E27FC236}">
                <a16:creationId xmlns:a16="http://schemas.microsoft.com/office/drawing/2014/main" id="{4BA38F02-4178-0D37-1358-CBF215397A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" b="17170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2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412862" y="4409267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563791 w 4243589"/>
              <a:gd name="connsiteY1" fmla="*/ 0 h 18288"/>
              <a:gd name="connsiteX2" fmla="*/ 1042710 w 4243589"/>
              <a:gd name="connsiteY2" fmla="*/ 0 h 18288"/>
              <a:gd name="connsiteX3" fmla="*/ 1564066 w 4243589"/>
              <a:gd name="connsiteY3" fmla="*/ 0 h 18288"/>
              <a:gd name="connsiteX4" fmla="*/ 2212729 w 4243589"/>
              <a:gd name="connsiteY4" fmla="*/ 0 h 18288"/>
              <a:gd name="connsiteX5" fmla="*/ 2776520 w 4243589"/>
              <a:gd name="connsiteY5" fmla="*/ 0 h 18288"/>
              <a:gd name="connsiteX6" fmla="*/ 3297875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637362 w 4243589"/>
              <a:gd name="connsiteY9" fmla="*/ 18288 h 18288"/>
              <a:gd name="connsiteX10" fmla="*/ 3116007 w 4243589"/>
              <a:gd name="connsiteY10" fmla="*/ 18288 h 18288"/>
              <a:gd name="connsiteX11" fmla="*/ 2424908 w 4243589"/>
              <a:gd name="connsiteY11" fmla="*/ 18288 h 18288"/>
              <a:gd name="connsiteX12" fmla="*/ 1861117 w 4243589"/>
              <a:gd name="connsiteY12" fmla="*/ 18288 h 18288"/>
              <a:gd name="connsiteX13" fmla="*/ 1382198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3987" y="7429"/>
                  <a:pt x="4243569" y="10822"/>
                  <a:pt x="4243589" y="18288"/>
                </a:cubicBezTo>
                <a:cubicBezTo>
                  <a:pt x="4112949" y="-2855"/>
                  <a:pt x="3928037" y="1831"/>
                  <a:pt x="3637362" y="18288"/>
                </a:cubicBezTo>
                <a:cubicBezTo>
                  <a:pt x="3346687" y="34745"/>
                  <a:pt x="3254446" y="26669"/>
                  <a:pt x="3116007" y="18288"/>
                </a:cubicBezTo>
                <a:cubicBezTo>
                  <a:pt x="2977569" y="9907"/>
                  <a:pt x="2620228" y="28873"/>
                  <a:pt x="2424908" y="18288"/>
                </a:cubicBezTo>
                <a:cubicBezTo>
                  <a:pt x="2229588" y="7703"/>
                  <a:pt x="2088287" y="-3854"/>
                  <a:pt x="1861117" y="18288"/>
                </a:cubicBezTo>
                <a:cubicBezTo>
                  <a:pt x="1633947" y="40430"/>
                  <a:pt x="1502447" y="-871"/>
                  <a:pt x="1382198" y="18288"/>
                </a:cubicBezTo>
                <a:cubicBezTo>
                  <a:pt x="1261949" y="37447"/>
                  <a:pt x="1045440" y="28353"/>
                  <a:pt x="733535" y="18288"/>
                </a:cubicBezTo>
                <a:cubicBezTo>
                  <a:pt x="421630" y="8223"/>
                  <a:pt x="341257" y="-18359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2703" y="5429"/>
                  <a:pt x="4244410" y="14046"/>
                  <a:pt x="4243589" y="18288"/>
                </a:cubicBezTo>
                <a:cubicBezTo>
                  <a:pt x="4130424" y="-1240"/>
                  <a:pt x="3932803" y="42249"/>
                  <a:pt x="3722234" y="18288"/>
                </a:cubicBezTo>
                <a:cubicBezTo>
                  <a:pt x="3511665" y="-5673"/>
                  <a:pt x="3269903" y="45994"/>
                  <a:pt x="3116007" y="18288"/>
                </a:cubicBezTo>
                <a:cubicBezTo>
                  <a:pt x="2962111" y="-9418"/>
                  <a:pt x="2744280" y="23224"/>
                  <a:pt x="2509780" y="18288"/>
                </a:cubicBezTo>
                <a:cubicBezTo>
                  <a:pt x="2275280" y="13352"/>
                  <a:pt x="2066059" y="43664"/>
                  <a:pt x="1945989" y="18288"/>
                </a:cubicBezTo>
                <a:cubicBezTo>
                  <a:pt x="1825919" y="-7088"/>
                  <a:pt x="1407329" y="12616"/>
                  <a:pt x="1254890" y="18288"/>
                </a:cubicBezTo>
                <a:cubicBezTo>
                  <a:pt x="1102451" y="23960"/>
                  <a:pt x="837950" y="31673"/>
                  <a:pt x="563791" y="18288"/>
                </a:cubicBezTo>
                <a:cubicBezTo>
                  <a:pt x="289632" y="4903"/>
                  <a:pt x="132768" y="7105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79729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8898C-C9A5-4C0E-2725-CF0C8B59AA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Problem Definition</a:t>
            </a:r>
            <a:endParaRPr lang="LID4096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9">
            <a:extLst>
              <a:ext uri="{FF2B5EF4-FFF2-40B4-BE49-F238E27FC236}">
                <a16:creationId xmlns:a16="http://schemas.microsoft.com/office/drawing/2014/main" id="{29EF78CE-26F9-ACE9-15B5-2CA07E010F7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62444"/>
            <a:ext cx="6569427" cy="3785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Binary image classification task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Determine whether an image contains an alpaca or not</a:t>
            </a:r>
            <a:endParaRPr kumimoji="0" lang="en-US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Motivation:</a:t>
            </a:r>
            <a:endParaRPr kumimoji="0" lang="en-US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 love alpacas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 filtering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he-IL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Wildlife image analysis</a:t>
            </a:r>
            <a:endParaRPr kumimoji="0" lang="en-US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Main challenges: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Visual similarity to llamas, camels, giraffes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Variations in scale, pose, and background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26" name="Picture 25" descr="A giraffe standing in a field&#10;&#10;AI-generated content may be incorrect.">
            <a:extLst>
              <a:ext uri="{FF2B5EF4-FFF2-40B4-BE49-F238E27FC236}">
                <a16:creationId xmlns:a16="http://schemas.microsoft.com/office/drawing/2014/main" id="{17D04653-D284-7745-9CA8-476A768B66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7415" y="785115"/>
            <a:ext cx="2143125" cy="2143125"/>
          </a:xfrm>
          <a:prstGeom prst="rect">
            <a:avLst/>
          </a:prstGeom>
        </p:spPr>
      </p:pic>
      <p:pic>
        <p:nvPicPr>
          <p:cNvPr id="28" name="Picture 27" descr="A llama walking on grass&#10;&#10;AI-generated content may be incorrect.">
            <a:extLst>
              <a:ext uri="{FF2B5EF4-FFF2-40B4-BE49-F238E27FC236}">
                <a16:creationId xmlns:a16="http://schemas.microsoft.com/office/drawing/2014/main" id="{48FB49D6-550A-372D-DDB7-9C7321DD700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0996" y="2582946"/>
            <a:ext cx="1832517" cy="2748776"/>
          </a:xfrm>
          <a:prstGeom prst="rect">
            <a:avLst/>
          </a:prstGeom>
        </p:spPr>
      </p:pic>
      <p:pic>
        <p:nvPicPr>
          <p:cNvPr id="30" name="Picture 29" descr="A group of llamas standing in a field&#10;&#10;AI-generated content may be incorrect.">
            <a:extLst>
              <a:ext uri="{FF2B5EF4-FFF2-40B4-BE49-F238E27FC236}">
                <a16:creationId xmlns:a16="http://schemas.microsoft.com/office/drawing/2014/main" id="{26E4C447-4CCF-1AC7-512D-40ADB734CD0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26015" y="3985239"/>
            <a:ext cx="191452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34026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704E02-E1D0-4EBC-55BF-055CDB7E7B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Dataset</a:t>
            </a:r>
            <a:endParaRPr lang="LID4096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B5DCB41-9EA3-4E42-9471-3E90CF63DE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80279" y="2089750"/>
            <a:ext cx="10515600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Two classes: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alpaca (142 images)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not alpaca (185 images)</a:t>
            </a:r>
            <a:endParaRPr kumimoji="0" lang="en-US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Images collected from 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Kaggle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Dataset organized into class-labeled folders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3B3DEB-2B54-5B86-CE78-07E03FB3560D}"/>
              </a:ext>
            </a:extLst>
          </p:cNvPr>
          <p:cNvSpPr txBox="1"/>
          <p:nvPr/>
        </p:nvSpPr>
        <p:spPr>
          <a:xfrm>
            <a:off x="6863433" y="5368127"/>
            <a:ext cx="34234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Show_batch</a:t>
            </a:r>
            <a:r>
              <a:rPr lang="en-US" dirty="0"/>
              <a:t>() from the notebook</a:t>
            </a:r>
            <a:endParaRPr lang="LID409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E077642-E462-E1B5-DEB0-F0F5F21755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1123" y="1237488"/>
            <a:ext cx="6329575" cy="4130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6159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76F6D2-F129-B71A-B2C4-7F547848B8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Data Pipeline</a:t>
            </a:r>
            <a:endParaRPr lang="LID4096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4090C6-7FF5-9FA6-3D41-E6D4CDE31A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61342"/>
            <a:ext cx="6052457" cy="22872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fastai ImageDataLoaders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LID4096" sz="2000" dirty="0">
                <a:latin typeface="Arial" panose="020B0604020202020204" pitchFamily="34" charset="0"/>
              </a:rPr>
              <a:t>T</a:t>
            </a:r>
            <a:r>
              <a:rPr lang="LID4096" altLang="LID4096" sz="2000" dirty="0">
                <a:latin typeface="Arial" panose="020B0604020202020204" pitchFamily="34" charset="0"/>
              </a:rPr>
              <a:t>rain/validation split (80% / 20%)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LID4096" altLang="LID4096" sz="2000" dirty="0">
                <a:latin typeface="Arial" panose="020B0604020202020204" pitchFamily="34" charset="0"/>
              </a:rPr>
              <a:t>Image resizing</a:t>
            </a:r>
            <a:r>
              <a:rPr lang="en-US" altLang="LID4096" sz="2000" dirty="0">
                <a:latin typeface="Arial" panose="020B0604020202020204" pitchFamily="34" charset="0"/>
              </a:rPr>
              <a:t> </a:t>
            </a:r>
            <a:r>
              <a:rPr lang="en-US" sz="2000" dirty="0">
                <a:latin typeface="Arial" panose="020B0604020202020204" pitchFamily="34" charset="0"/>
              </a:rPr>
              <a:t>to 224×224</a:t>
            </a:r>
            <a:endParaRPr lang="LID4096" altLang="LID4096" sz="2000" dirty="0">
              <a:latin typeface="Arial" panose="020B0604020202020204" pitchFamily="34" charset="0"/>
            </a:endParaRPr>
          </a:p>
          <a:p>
            <a:r>
              <a:rPr lang="en-US" sz="2000" dirty="0">
                <a:latin typeface="Arial" panose="020B0604020202020204" pitchFamily="34" charset="0"/>
              </a:rPr>
              <a:t>Same preprocessing for all experiments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56C099-F163-A984-F587-D6B63FC05D4D}"/>
              </a:ext>
            </a:extLst>
          </p:cNvPr>
          <p:cNvSpPr txBox="1"/>
          <p:nvPr/>
        </p:nvSpPr>
        <p:spPr>
          <a:xfrm>
            <a:off x="6359912" y="5129588"/>
            <a:ext cx="58320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 Training Images After Data Augmentation</a:t>
            </a:r>
            <a:endParaRPr lang="LID4096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398903-9B34-F8C0-77BC-B4BE12398B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5111" y="1161145"/>
            <a:ext cx="5820847" cy="3856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10677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E1CCB-D459-4434-61C8-63937B478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Architecture</a:t>
            </a:r>
            <a:endParaRPr lang="LID4096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1D91D24-BDF8-7023-E315-6EC5347440D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3031798"/>
            <a:ext cx="4737194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ResNet34 convolutional neural network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Pretrained on ImageNet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Transfer learning: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Replace classification head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Fine-tune entire network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Metric: Accuracy</a:t>
            </a:r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51850E47-DE38-C7B8-A5B6-BA09925117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E091DD40-9AE8-71DA-D2FF-E1DA5EB57E0E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Baseline Model</a:t>
            </a:r>
            <a:endParaRPr lang="LID4096" sz="5400" dirty="0"/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F889966A-A1B5-EB60-3533-D01F71A019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24E22CA2-698D-DA9D-61A6-4D577A7F9A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036" y="2584281"/>
            <a:ext cx="6052457" cy="168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sz="2000" dirty="0"/>
              <a:t>Transfer learning with </a:t>
            </a:r>
            <a:r>
              <a:rPr lang="en-US" sz="2000" dirty="0" err="1"/>
              <a:t>ResNet</a:t>
            </a:r>
            <a:r>
              <a:rPr lang="en-US" sz="2000" dirty="0"/>
              <a:t> 34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Trained for 3 epochs</a:t>
            </a:r>
          </a:p>
          <a:p>
            <a:pPr>
              <a:lnSpc>
                <a:spcPct val="150000"/>
              </a:lnSpc>
            </a:pPr>
            <a:r>
              <a:rPr lang="en-US" sz="2000" dirty="0"/>
              <a:t>Metric: Accuracy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5F03BA-67BC-3CFD-3FB4-2E7522ADED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6568" y="823726"/>
            <a:ext cx="6382208" cy="3900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03075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5F5231-B277-AFE8-45B4-19D538A546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ED44A8E7-8873-BA73-9919-A59C5F5AC46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Model Architecture</a:t>
            </a:r>
            <a:endParaRPr lang="LID4096" dirty="0"/>
          </a:p>
        </p:txBody>
      </p:sp>
      <p:sp useBgFill="1">
        <p:nvSpPr>
          <p:cNvPr id="6" name="Rectangle 5">
            <a:extLst>
              <a:ext uri="{FF2B5EF4-FFF2-40B4-BE49-F238E27FC236}">
                <a16:creationId xmlns:a16="http://schemas.microsoft.com/office/drawing/2014/main" id="{92A8578C-913A-D75F-3C97-3A292366B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3EF543E1-4EC6-A374-C368-C5A2E4DCFF6A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Baseline Results</a:t>
            </a:r>
            <a:endParaRPr lang="LID4096" sz="5400" dirty="0"/>
          </a:p>
        </p:txBody>
      </p:sp>
      <p:sp>
        <p:nvSpPr>
          <p:cNvPr id="8" name="sketch line">
            <a:extLst>
              <a:ext uri="{FF2B5EF4-FFF2-40B4-BE49-F238E27FC236}">
                <a16:creationId xmlns:a16="http://schemas.microsoft.com/office/drawing/2014/main" id="{C1096C30-A98D-0BDC-8893-4ECBA8AB75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0BB32DD-48FC-23DE-8D46-856C452F9022}"/>
              </a:ext>
            </a:extLst>
          </p:cNvPr>
          <p:cNvSpPr txBox="1"/>
          <p:nvPr/>
        </p:nvSpPr>
        <p:spPr>
          <a:xfrm>
            <a:off x="1638736" y="5087035"/>
            <a:ext cx="9868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LID4096" dirty="0"/>
          </a:p>
        </p:txBody>
      </p:sp>
      <p:sp>
        <p:nvSpPr>
          <p:cNvPr id="18" name="Rectangle 7">
            <a:extLst>
              <a:ext uri="{FF2B5EF4-FFF2-40B4-BE49-F238E27FC236}">
                <a16:creationId xmlns:a16="http://schemas.microsoft.com/office/drawing/2014/main" id="{05DEC17B-F932-C979-72C4-41F6353EF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811178"/>
            <a:ext cx="3746731" cy="245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accuracy: </a:t>
            </a: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</a:t>
            </a:r>
            <a:r>
              <a:rPr lang="en-US" altLang="LID4096" sz="2000" b="1" dirty="0">
                <a:latin typeface="Arial" panose="020B0604020202020204" pitchFamily="34" charset="0"/>
              </a:rPr>
              <a:t>2</a:t>
            </a: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31</a:t>
            </a: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%</a:t>
            </a:r>
            <a:endParaRPr kumimoji="0" lang="en-US" altLang="LID4096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Alpaca recall: </a:t>
            </a:r>
            <a:r>
              <a:rPr kumimoji="0" lang="en-US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100%</a:t>
            </a: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altLang="LID4096" sz="20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Strong performance </a:t>
            </a:r>
            <a:endParaRPr kumimoji="0" lang="LID4096" altLang="LID4096" sz="20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1739B0D-019E-B3E0-6E43-25B23D34E6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1961" y="277840"/>
            <a:ext cx="6030167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9215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19E9AEE-F652-B571-3056-4CDC2F93F0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/>
              <a:t>Data Augmentation Experiment</a:t>
            </a:r>
            <a:endParaRPr lang="LID4096" sz="5400" dirty="0"/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A73D159B-DFD8-297E-EAFE-4CE63E1D13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63982"/>
            <a:ext cx="5270995" cy="30746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Added standard augmentations:</a:t>
            </a:r>
            <a:endParaRPr kumimoji="0" lang="en-US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LID4096" sz="2000" dirty="0">
                <a:latin typeface="Arial" panose="020B0604020202020204" pitchFamily="34" charset="0"/>
              </a:rPr>
              <a:t>	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rotation, zoom, lighting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 model (ResNet34)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 number of epochs (3)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improve robustness and generalization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7960408-5404-702A-8DC9-E3356DA760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4476" y="1847609"/>
            <a:ext cx="5792724" cy="4593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3981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DD6972-0B43-2184-C909-D3BF1A48A6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 dirty="0"/>
          </a:p>
        </p:txBody>
      </p:sp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B7A5C71C-86AE-61DF-78C9-AC05F9DB739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A30D957-CDB6-42FD-1AB2-0DAB9682F48C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Augmentation Results</a:t>
            </a: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8B5E5C02-7AE3-0E46-3C3E-BD0A4E4343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93CD8C2E-B52F-398B-8CAE-56BEA0341BBD}"/>
              </a:ext>
            </a:extLst>
          </p:cNvPr>
          <p:cNvSpPr txBox="1">
            <a:spLocks/>
          </p:cNvSpPr>
          <p:nvPr/>
        </p:nvSpPr>
        <p:spPr>
          <a:xfrm>
            <a:off x="1673352" y="4578711"/>
            <a:ext cx="10515600" cy="17282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sz="2000" dirty="0"/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47DD3322-AC16-23E7-D4AC-ADBD63AFA0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39022"/>
            <a:ext cx="6400800" cy="245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Validation accuracy: </a:t>
            </a: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90.76%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Alpaca recall: </a:t>
            </a: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91.7%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Performance decreased compared to baseline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Augmentation may distort fine-grained features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1FA1BB5-6B2F-8A57-8B1F-5024B50B8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9938" y="1842030"/>
            <a:ext cx="4432433" cy="45782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776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B7EF87-5EF4-9406-DACF-8385FBD58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Improved Results</a:t>
            </a:r>
            <a:endParaRPr lang="LID4096" dirty="0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0C7ED00-F962-0AF6-2B11-D03F6215D4F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729147" y="1695661"/>
            <a:ext cx="4584921" cy="4351338"/>
          </a:xfrm>
          <a:prstGeom prst="rect">
            <a:avLst/>
          </a:prstGeom>
        </p:spPr>
      </p:pic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2DCC9E4E-7A5F-AB96-CC84-6E8A5FF215B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DE24B4EB-8D06-2EB2-B2FA-02CE0AB76716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Deeper Model: ResNet50</a:t>
            </a:r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C04B5CFA-010F-9D29-73F4-A54F93F809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C97AD320-8362-A2E6-1F5F-CE50658F9918}"/>
              </a:ext>
            </a:extLst>
          </p:cNvPr>
          <p:cNvSpPr txBox="1">
            <a:spLocks/>
          </p:cNvSpPr>
          <p:nvPr/>
        </p:nvSpPr>
        <p:spPr>
          <a:xfrm>
            <a:off x="1763486" y="4731688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LID4096" sz="2000" dirty="0"/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E38FE487-8C5F-73EC-F756-F8B35DF2E7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036" y="2164215"/>
            <a:ext cx="4862678" cy="245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Tested a deeper backbone: </a:t>
            </a: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ResNet50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Same dataset, same epochs (3)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Goal: evaluate effect of </a:t>
            </a:r>
            <a:endParaRPr kumimoji="0" lang="en-US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lang="en-US" altLang="LID4096" sz="2000" dirty="0">
                <a:latin typeface="Arial" panose="020B0604020202020204" pitchFamily="34" charset="0"/>
              </a:rPr>
              <a:t>	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increased model capacity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9C434EF-BC48-3026-9581-1FD407ED05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29147" y="2055813"/>
            <a:ext cx="6382986" cy="3921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200298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AE34C9-674D-B761-1429-5B7E600C30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0AF724E6-0F72-6799-142F-BDE9D44F086D}"/>
              </a:ext>
            </a:extLst>
          </p:cNvPr>
          <p:cNvPicPr>
            <a:picLocks noGrp="1" noChangeAspect="1"/>
            <a:extLst>
              <a:ext uri="{51228E76-BA90-4043-B771-695A4F85340A}">
                <alf:liveFeedProps xmlns:alf="http://schemas.microsoft.com/office/drawing/2021/livefeed"/>
              </a:ext>
            </a:extLst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494" y="1984559"/>
            <a:ext cx="10515600" cy="4351338"/>
          </a:xfrm>
          <a:prstGeom prst="rect">
            <a:avLst/>
          </a:prstGeom>
        </p:spPr>
      </p:pic>
      <p:sp useBgFill="1">
        <p:nvSpPr>
          <p:cNvPr id="4" name="Rectangle 3">
            <a:extLst>
              <a:ext uri="{FF2B5EF4-FFF2-40B4-BE49-F238E27FC236}">
                <a16:creationId xmlns:a16="http://schemas.microsoft.com/office/drawing/2014/main" id="{350E6F88-9A0D-3997-11D5-1093729ABB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5B48874B-354A-9FDB-F6FB-C29D5C179BD5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Error Analysis</a:t>
            </a:r>
            <a:endParaRPr lang="LID4096" sz="5400" dirty="0"/>
          </a:p>
        </p:txBody>
      </p:sp>
      <p:sp>
        <p:nvSpPr>
          <p:cNvPr id="6" name="sketch line">
            <a:extLst>
              <a:ext uri="{FF2B5EF4-FFF2-40B4-BE49-F238E27FC236}">
                <a16:creationId xmlns:a16="http://schemas.microsoft.com/office/drawing/2014/main" id="{E6DA0FB7-66E6-504B-13BB-80E5439315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01C0DBE-EF1E-8F9A-06B3-2F50D9DC8EDD}"/>
              </a:ext>
            </a:extLst>
          </p:cNvPr>
          <p:cNvSpPr txBox="1">
            <a:spLocks/>
          </p:cNvSpPr>
          <p:nvPr/>
        </p:nvSpPr>
        <p:spPr>
          <a:xfrm>
            <a:off x="1338943" y="5297445"/>
            <a:ext cx="10515600" cy="42519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LID4096" sz="2000" dirty="0"/>
          </a:p>
        </p:txBody>
      </p:sp>
      <p:sp>
        <p:nvSpPr>
          <p:cNvPr id="15" name="Rectangle 5">
            <a:extLst>
              <a:ext uri="{FF2B5EF4-FFF2-40B4-BE49-F238E27FC236}">
                <a16:creationId xmlns:a16="http://schemas.microsoft.com/office/drawing/2014/main" id="{933A2B6A-B201-E820-3FCF-CB3A8285AA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9036" y="2238342"/>
            <a:ext cx="5131868" cy="2805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Remaining errors occur for: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Animals with similar shape (giraffes, camels)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Partial or distant subjects</a:t>
            </a: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 relies heavily on body shape and neck features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22972FA6-E3BC-9CB4-3EA2-EA16232106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7265" y="191447"/>
            <a:ext cx="5572903" cy="5820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3320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94968-A57F-8502-A8DC-D370D5DED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LID4096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CFC85DDE-27A1-0562-DD18-9157D8416668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Model Architecture</a:t>
            </a:r>
            <a:endParaRPr lang="LID4096" dirty="0"/>
          </a:p>
        </p:txBody>
      </p:sp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91DDA7EB-080C-4728-38CA-7DB5F46BF5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642F8E62-3DFF-3DB4-31BF-2401925CC0B2}"/>
              </a:ext>
            </a:extLst>
          </p:cNvPr>
          <p:cNvSpPr txBox="1">
            <a:spLocks/>
          </p:cNvSpPr>
          <p:nvPr/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/>
              <a:t>Final Comparison &amp; Conclusions</a:t>
            </a:r>
            <a:endParaRPr lang="LID4096" sz="5400" dirty="0"/>
          </a:p>
        </p:txBody>
      </p:sp>
      <p:sp>
        <p:nvSpPr>
          <p:cNvPr id="7" name="sketch line">
            <a:extLst>
              <a:ext uri="{FF2B5EF4-FFF2-40B4-BE49-F238E27FC236}">
                <a16:creationId xmlns:a16="http://schemas.microsoft.com/office/drawing/2014/main" id="{7841AE06-C772-DD1A-A74D-FFFD9458A2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onnsiteX0" fmla="*/ 0 w 10853928"/>
              <a:gd name="connsiteY0" fmla="*/ 0 h 18288"/>
              <a:gd name="connsiteX1" fmla="*/ 461292 w 10853928"/>
              <a:gd name="connsiteY1" fmla="*/ 0 h 18288"/>
              <a:gd name="connsiteX2" fmla="*/ 1139662 w 10853928"/>
              <a:gd name="connsiteY2" fmla="*/ 0 h 18288"/>
              <a:gd name="connsiteX3" fmla="*/ 1926572 w 10853928"/>
              <a:gd name="connsiteY3" fmla="*/ 0 h 18288"/>
              <a:gd name="connsiteX4" fmla="*/ 2279325 w 10853928"/>
              <a:gd name="connsiteY4" fmla="*/ 0 h 18288"/>
              <a:gd name="connsiteX5" fmla="*/ 2632078 w 10853928"/>
              <a:gd name="connsiteY5" fmla="*/ 0 h 18288"/>
              <a:gd name="connsiteX6" fmla="*/ 3527527 w 10853928"/>
              <a:gd name="connsiteY6" fmla="*/ 0 h 18288"/>
              <a:gd name="connsiteX7" fmla="*/ 4205897 w 10853928"/>
              <a:gd name="connsiteY7" fmla="*/ 0 h 18288"/>
              <a:gd name="connsiteX8" fmla="*/ 4558650 w 10853928"/>
              <a:gd name="connsiteY8" fmla="*/ 0 h 18288"/>
              <a:gd name="connsiteX9" fmla="*/ 5237020 w 10853928"/>
              <a:gd name="connsiteY9" fmla="*/ 0 h 18288"/>
              <a:gd name="connsiteX10" fmla="*/ 6132469 w 10853928"/>
              <a:gd name="connsiteY10" fmla="*/ 0 h 18288"/>
              <a:gd name="connsiteX11" fmla="*/ 6702301 w 10853928"/>
              <a:gd name="connsiteY11" fmla="*/ 0 h 18288"/>
              <a:gd name="connsiteX12" fmla="*/ 7272132 w 10853928"/>
              <a:gd name="connsiteY12" fmla="*/ 0 h 18288"/>
              <a:gd name="connsiteX13" fmla="*/ 7950502 w 10853928"/>
              <a:gd name="connsiteY13" fmla="*/ 0 h 18288"/>
              <a:gd name="connsiteX14" fmla="*/ 8737412 w 10853928"/>
              <a:gd name="connsiteY14" fmla="*/ 0 h 18288"/>
              <a:gd name="connsiteX15" fmla="*/ 9524322 w 10853928"/>
              <a:gd name="connsiteY15" fmla="*/ 0 h 18288"/>
              <a:gd name="connsiteX16" fmla="*/ 10853928 w 10853928"/>
              <a:gd name="connsiteY16" fmla="*/ 0 h 18288"/>
              <a:gd name="connsiteX17" fmla="*/ 10853928 w 10853928"/>
              <a:gd name="connsiteY17" fmla="*/ 18288 h 18288"/>
              <a:gd name="connsiteX18" fmla="*/ 10392636 w 10853928"/>
              <a:gd name="connsiteY18" fmla="*/ 18288 h 18288"/>
              <a:gd name="connsiteX19" fmla="*/ 9497187 w 10853928"/>
              <a:gd name="connsiteY19" fmla="*/ 18288 h 18288"/>
              <a:gd name="connsiteX20" fmla="*/ 8818817 w 10853928"/>
              <a:gd name="connsiteY20" fmla="*/ 18288 h 18288"/>
              <a:gd name="connsiteX21" fmla="*/ 8466064 w 10853928"/>
              <a:gd name="connsiteY21" fmla="*/ 18288 h 18288"/>
              <a:gd name="connsiteX22" fmla="*/ 7787693 w 10853928"/>
              <a:gd name="connsiteY22" fmla="*/ 18288 h 18288"/>
              <a:gd name="connsiteX23" fmla="*/ 7217862 w 10853928"/>
              <a:gd name="connsiteY23" fmla="*/ 18288 h 18288"/>
              <a:gd name="connsiteX24" fmla="*/ 6648031 w 10853928"/>
              <a:gd name="connsiteY24" fmla="*/ 18288 h 18288"/>
              <a:gd name="connsiteX25" fmla="*/ 6078200 w 10853928"/>
              <a:gd name="connsiteY25" fmla="*/ 18288 h 18288"/>
              <a:gd name="connsiteX26" fmla="*/ 5508368 w 10853928"/>
              <a:gd name="connsiteY26" fmla="*/ 18288 h 18288"/>
              <a:gd name="connsiteX27" fmla="*/ 4721459 w 10853928"/>
              <a:gd name="connsiteY27" fmla="*/ 18288 h 18288"/>
              <a:gd name="connsiteX28" fmla="*/ 4043088 w 10853928"/>
              <a:gd name="connsiteY28" fmla="*/ 18288 h 18288"/>
              <a:gd name="connsiteX29" fmla="*/ 3690336 w 10853928"/>
              <a:gd name="connsiteY29" fmla="*/ 18288 h 18288"/>
              <a:gd name="connsiteX30" fmla="*/ 3120504 w 10853928"/>
              <a:gd name="connsiteY30" fmla="*/ 18288 h 18288"/>
              <a:gd name="connsiteX31" fmla="*/ 2333595 w 10853928"/>
              <a:gd name="connsiteY31" fmla="*/ 18288 h 18288"/>
              <a:gd name="connsiteX32" fmla="*/ 1872303 w 10853928"/>
              <a:gd name="connsiteY32" fmla="*/ 18288 h 18288"/>
              <a:gd name="connsiteX33" fmla="*/ 976854 w 10853928"/>
              <a:gd name="connsiteY33" fmla="*/ 18288 h 18288"/>
              <a:gd name="connsiteX34" fmla="*/ 0 w 10853928"/>
              <a:gd name="connsiteY34" fmla="*/ 18288 h 18288"/>
              <a:gd name="connsiteX35" fmla="*/ 0 w 10853928"/>
              <a:gd name="connsiteY35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5E777A3-5792-DB9F-E785-F469A3A896D3}"/>
              </a:ext>
            </a:extLst>
          </p:cNvPr>
          <p:cNvSpPr txBox="1"/>
          <p:nvPr/>
        </p:nvSpPr>
        <p:spPr>
          <a:xfrm>
            <a:off x="1638736" y="5087035"/>
            <a:ext cx="986833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LID4096" dirty="0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840BEF92-7582-253A-09A2-D342C2B935E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65517"/>
            <a:ext cx="6683240" cy="245907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accuracy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ResNet50 </a:t>
            </a:r>
            <a:r>
              <a:rPr kumimoji="0" lang="en-US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93.8%</a:t>
            </a:r>
            <a:endParaRPr kumimoji="0" lang="LID4096" altLang="LID4096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Best recall </a:t>
            </a: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 ResNet34 baseline</a:t>
            </a:r>
            <a:r>
              <a:rPr lang="en-US" altLang="LID4096" sz="2000" dirty="0">
                <a:latin typeface="Arial" panose="020B0604020202020204" pitchFamily="34" charset="0"/>
              </a:rPr>
              <a:t> and ResNet50 - </a:t>
            </a:r>
            <a:r>
              <a:rPr lang="en-US" altLang="LID4096" sz="2000" b="1" dirty="0">
                <a:latin typeface="Arial" panose="020B0604020202020204" pitchFamily="34" charset="0"/>
              </a:rPr>
              <a:t>100%</a:t>
            </a:r>
            <a:endParaRPr kumimoji="0" lang="LID4096" altLang="LID4096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Deeper model → marginal improvement</a:t>
            </a:r>
          </a:p>
          <a:p>
            <a:pPr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LID4096" altLang="LID4096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Augmentation did not help for this dataset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8044B64-0AAA-3D35-C188-C3960105F6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50733" y="4424588"/>
            <a:ext cx="7240010" cy="2276793"/>
          </a:xfrm>
          <a:prstGeom prst="rect">
            <a:avLst/>
          </a:prstGeom>
        </p:spPr>
      </p:pic>
      <p:pic>
        <p:nvPicPr>
          <p:cNvPr id="12" name="Picture 11" descr="A person walking with llamas on a rocky hill&#10;&#10;AI-generated content may be incorrect.">
            <a:extLst>
              <a:ext uri="{FF2B5EF4-FFF2-40B4-BE49-F238E27FC236}">
                <a16:creationId xmlns:a16="http://schemas.microsoft.com/office/drawing/2014/main" id="{D6244D85-E58B-A9B7-E8F2-CDA5470E10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34846" r="-4078"/>
          <a:stretch>
            <a:fillRect/>
          </a:stretch>
        </p:blipFill>
        <p:spPr>
          <a:xfrm>
            <a:off x="10079332" y="1881245"/>
            <a:ext cx="2109620" cy="2347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244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331</Words>
  <Application>Microsoft Office PowerPoint</Application>
  <PresentationFormat>Widescreen</PresentationFormat>
  <Paragraphs>75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Alpaca or Not Alpaca Image Classification with fastai </vt:lpstr>
      <vt:lpstr>Problem Definition</vt:lpstr>
      <vt:lpstr>Dataset</vt:lpstr>
      <vt:lpstr>Data Pipeline</vt:lpstr>
      <vt:lpstr>Model Architecture</vt:lpstr>
      <vt:lpstr>PowerPoint Presentation</vt:lpstr>
      <vt:lpstr>Data Augmentation Experiment</vt:lpstr>
      <vt:lpstr>PowerPoint Presentation</vt:lpstr>
      <vt:lpstr>Improved Results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Mor Greenberg</dc:creator>
  <cp:lastModifiedBy>Mor Greenberg</cp:lastModifiedBy>
  <cp:revision>14</cp:revision>
  <dcterms:created xsi:type="dcterms:W3CDTF">2025-12-14T06:42:31Z</dcterms:created>
  <dcterms:modified xsi:type="dcterms:W3CDTF">2025-12-16T14:16:41Z</dcterms:modified>
</cp:coreProperties>
</file>